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3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1B1A61-29DC-BBC7-73E3-F67EA344F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E86F2E9-626D-6F99-29D8-D0482A73F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F51F99-282D-B4B3-7AE8-35931EA2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5641E4-FB42-B0A0-DB54-B6DD5F36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A66405-C2CE-4311-B1DD-38871B25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14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6919E9-BFFC-9844-7BED-0F8E2D61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1ECCEB-2110-9AF1-102E-BA6011F7C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468BC0-C70F-A199-66B8-0C700A24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3AB00D-3F7F-3D85-F0E5-B7B6942AC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0A5B6A-116D-CA1C-0506-FCBF4874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576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EBC74-CF8B-873E-F9AF-DDB749896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21B106-315B-C1D5-CCD4-0EFB13520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031D9C-8778-26D6-D2D5-C5D2CC59F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326C9F-E949-B20A-F25C-86E8DF2E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617D27-C430-C63D-223C-5A970B0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DC783-C747-97A2-D7A1-39F0E5225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F5EA2E-1A46-92F7-8F47-667AE3C07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BB0F50-A40B-0311-8728-DB6242909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CEBD8E-7151-1C68-0FBE-94BB51B6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74D4A6-7964-9AFF-71FA-C6E0AA89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33A049-228A-B515-5303-7AD558FA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60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AE506-70E2-9DE9-5CD0-385BACA5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D68AFF-BB68-B109-44AE-61D27354F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5CEB0B-272C-0F24-1992-128A69443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4C2F7A9-E816-E938-3087-F6246BFE9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AFCB4E-7C5C-5E05-D4E8-330312D3C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96476E-D62F-63BC-C7CC-C1B86904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FE8A4EE-339F-9C54-9CE3-F511CCFC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0C51C54-56CC-79F0-9C74-8CED6DF6A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43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442A17-0906-CE4B-A478-394977874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76A5224-0257-C46D-3D1F-84E6C95C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6A52D3-C52D-FBE3-384B-E31FF88B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44CBEE-2550-97EC-940B-71621E41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969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4BF128-92BC-D72A-5C62-B9EC1A935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88D2AB-B224-84AE-BC81-9B107F515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AEAFAB-6408-BCF5-23E4-DADD5C98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12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FB0121-9751-D8F4-E9ED-861FDAAA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FC4D95-EDE2-DBE8-4951-EC093E7E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A97221-BD18-F5BE-AE4D-49434E185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87DC69-B96B-1BC1-7539-5A33F148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D871D5-96DA-4BF7-328B-5803B085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B4C36E-29A2-3092-B70A-40E40C55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71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299A1-47AE-8E2C-05D0-EED3CA18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AC9B98-FFE9-FF25-BDAA-000E6ED2D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765364-33E2-ACBD-A21C-F48039B26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5D0C77-F2FB-90FE-C1BB-0262CB4C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9B76C2-CE06-D7D7-1970-B9039770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D1494B-041E-319F-380E-CD07A732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594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9CE25D-5FE7-CA29-19A4-7853518BD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4EE128-7511-BE1E-E69B-60F1F92F1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D35F7F-C347-2BAE-F817-09004F55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5BDAD4-AAC5-6DC2-DAB0-4C1E4CE4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06A497-0AA1-EDC5-23FC-1281C029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93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FE0A92F-E62B-25B0-4A42-938DF9373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19321D-FB7E-B4A8-A6A4-F420D47EE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22B367-3089-F4C8-9341-84B5CAB6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218348-85B0-774A-FA52-AC7F3BD8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FA8833-DBEE-6145-50C1-DB190FC6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85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AD94B06-EB19-8286-31AF-650BCE76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A042B6-D55F-B3F5-FD74-9FAD758B9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7C71FD-8A2C-EB47-B520-892630EEE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FBA58-ACF5-4337-840E-E6FC519009D0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920C0C-BB28-EEFC-D799-B96DADC5D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30703-C971-2AB5-C89E-1180F2F0F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46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DDC881-8A51-8A72-54C7-E097E4F968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VAE</a:t>
            </a:r>
            <a:endParaRPr lang="en-GB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5F7648D-4F4B-027B-D9EA-42CF042400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Pointnet</a:t>
            </a:r>
            <a:r>
              <a:rPr lang="de-DE" dirty="0"/>
              <a:t>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948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0150F-14B9-E907-1BF0-57908635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VAE-Model Architecture Encoder</a:t>
            </a:r>
            <a:endParaRPr lang="en-GB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D2BC156-09E1-DE42-F0F5-47CF2DB307D1}"/>
              </a:ext>
            </a:extLst>
          </p:cNvPr>
          <p:cNvSpPr/>
          <p:nvPr/>
        </p:nvSpPr>
        <p:spPr>
          <a:xfrm>
            <a:off x="2107660" y="1690688"/>
            <a:ext cx="1958502" cy="706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Projection</a:t>
            </a:r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95F2DEF-60E7-3A88-F9E3-3B8AB7529929}"/>
              </a:ext>
            </a:extLst>
          </p:cNvPr>
          <p:cNvGrpSpPr/>
          <p:nvPr/>
        </p:nvGrpSpPr>
        <p:grpSpPr>
          <a:xfrm>
            <a:off x="1183532" y="1834578"/>
            <a:ext cx="434503" cy="419095"/>
            <a:chOff x="995464" y="1690688"/>
            <a:chExt cx="434503" cy="419095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82CDB697-67DB-B4CC-D01B-E042A012A7B1}"/>
                </a:ext>
              </a:extLst>
            </p:cNvPr>
            <p:cNvSpPr/>
            <p:nvPr/>
          </p:nvSpPr>
          <p:spPr>
            <a:xfrm>
              <a:off x="1134894" y="1690688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D0840455-AAA2-D125-2356-CC62F8C9C5BA}"/>
                </a:ext>
              </a:extLst>
            </p:cNvPr>
            <p:cNvSpPr/>
            <p:nvPr/>
          </p:nvSpPr>
          <p:spPr>
            <a:xfrm>
              <a:off x="995464" y="1843087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A41C41E9-6BDD-2BD9-567E-3135A1EF76B4}"/>
                </a:ext>
              </a:extLst>
            </p:cNvPr>
            <p:cNvSpPr/>
            <p:nvPr/>
          </p:nvSpPr>
          <p:spPr>
            <a:xfrm>
              <a:off x="1164077" y="1888806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59B8FE20-37B1-3087-B7DA-0EE17B17777D}"/>
                </a:ext>
              </a:extLst>
            </p:cNvPr>
            <p:cNvSpPr/>
            <p:nvPr/>
          </p:nvSpPr>
          <p:spPr>
            <a:xfrm>
              <a:off x="1371601" y="1766887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370DFC89-3186-AC75-1B09-E87462BFF366}"/>
                </a:ext>
              </a:extLst>
            </p:cNvPr>
            <p:cNvSpPr/>
            <p:nvPr/>
          </p:nvSpPr>
          <p:spPr>
            <a:xfrm>
              <a:off x="1371601" y="1890769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73E704AB-768F-F41B-2F2F-B730E47ECF22}"/>
                </a:ext>
              </a:extLst>
            </p:cNvPr>
            <p:cNvSpPr/>
            <p:nvPr/>
          </p:nvSpPr>
          <p:spPr>
            <a:xfrm>
              <a:off x="1193260" y="2064064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4346109-61CE-E731-1443-1466B4743297}"/>
              </a:ext>
            </a:extLst>
          </p:cNvPr>
          <p:cNvCxnSpPr/>
          <p:nvPr/>
        </p:nvCxnSpPr>
        <p:spPr>
          <a:xfrm>
            <a:off x="1783404" y="2009836"/>
            <a:ext cx="239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0129F42-2137-67C4-B178-96D6C855BE5E}"/>
              </a:ext>
            </a:extLst>
          </p:cNvPr>
          <p:cNvCxnSpPr/>
          <p:nvPr/>
        </p:nvCxnSpPr>
        <p:spPr>
          <a:xfrm>
            <a:off x="4186135" y="2032696"/>
            <a:ext cx="239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D51C4FF8-5201-3762-DCB0-B40BC4D7EB72}"/>
                  </a:ext>
                </a:extLst>
              </p:cNvPr>
              <p:cNvSpPr txBox="1"/>
              <p:nvPr/>
            </p:nvSpPr>
            <p:spPr>
              <a:xfrm>
                <a:off x="946826" y="2397565"/>
                <a:ext cx="9857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D51C4FF8-5201-3762-DCB0-B40BC4D7E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26" y="2397565"/>
                <a:ext cx="98573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06CE1653-71A3-4DA4-D9B5-D2E2DC28F31D}"/>
                  </a:ext>
                </a:extLst>
              </p:cNvPr>
              <p:cNvSpPr txBox="1"/>
              <p:nvPr/>
            </p:nvSpPr>
            <p:spPr>
              <a:xfrm>
                <a:off x="4549302" y="2415096"/>
                <a:ext cx="9857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06CE1653-71A3-4DA4-D9B5-D2E2DC28F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302" y="2415096"/>
                <a:ext cx="9857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feld 18">
            <a:extLst>
              <a:ext uri="{FF2B5EF4-FFF2-40B4-BE49-F238E27FC236}">
                <a16:creationId xmlns:a16="http://schemas.microsoft.com/office/drawing/2014/main" id="{629C3865-8D62-064B-F3A4-CDCD046DABFC}"/>
              </a:ext>
            </a:extLst>
          </p:cNvPr>
          <p:cNvSpPr txBox="1"/>
          <p:nvPr/>
        </p:nvSpPr>
        <p:spPr>
          <a:xfrm>
            <a:off x="797669" y="2762434"/>
            <a:ext cx="1297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Pointcloud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3DC4E251-6D22-15CE-826C-B5611FA882EC}"/>
                  </a:ext>
                </a:extLst>
              </p:cNvPr>
              <p:cNvSpPr txBox="1"/>
              <p:nvPr/>
            </p:nvSpPr>
            <p:spPr>
              <a:xfrm>
                <a:off x="4604426" y="1880297"/>
                <a:ext cx="7311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3DC4E251-6D22-15CE-826C-B5611FA88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426" y="1880297"/>
                <a:ext cx="731196" cy="369332"/>
              </a:xfrm>
              <a:prstGeom prst="rect">
                <a:avLst/>
              </a:prstGeom>
              <a:blipFill>
                <a:blip r:embed="rId4"/>
                <a:stretch>
                  <a:fillRect t="-6557" r="-5000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feld 21">
            <a:extLst>
              <a:ext uri="{FF2B5EF4-FFF2-40B4-BE49-F238E27FC236}">
                <a16:creationId xmlns:a16="http://schemas.microsoft.com/office/drawing/2014/main" id="{7C7F8883-E507-A73A-1403-A6E1F8DF9A44}"/>
              </a:ext>
            </a:extLst>
          </p:cNvPr>
          <p:cNvSpPr txBox="1"/>
          <p:nvPr/>
        </p:nvSpPr>
        <p:spPr>
          <a:xfrm>
            <a:off x="4186135" y="2757105"/>
            <a:ext cx="179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Global Feature</a:t>
            </a:r>
            <a:endParaRPr lang="en-GB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AB69943D-34AB-D7F7-1651-D0D732E300A5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5335622" y="1774254"/>
            <a:ext cx="1743682" cy="290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C9FE1571-144D-F31F-902D-85921970B235}"/>
              </a:ext>
            </a:extLst>
          </p:cNvPr>
          <p:cNvCxnSpPr>
            <a:cxnSpLocks/>
          </p:cNvCxnSpPr>
          <p:nvPr/>
        </p:nvCxnSpPr>
        <p:spPr>
          <a:xfrm>
            <a:off x="5335622" y="2080378"/>
            <a:ext cx="1687748" cy="429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hteck 29">
            <a:extLst>
              <a:ext uri="{FF2B5EF4-FFF2-40B4-BE49-F238E27FC236}">
                <a16:creationId xmlns:a16="http://schemas.microsoft.com/office/drawing/2014/main" id="{CA90D103-60DE-776F-13A9-432E7C0BEF10}"/>
              </a:ext>
            </a:extLst>
          </p:cNvPr>
          <p:cNvSpPr/>
          <p:nvPr/>
        </p:nvSpPr>
        <p:spPr>
          <a:xfrm>
            <a:off x="7370325" y="1477918"/>
            <a:ext cx="1511030" cy="622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MLP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6E618DF9-DDEF-85C6-BB2F-0E4106C1F559}"/>
              </a:ext>
            </a:extLst>
          </p:cNvPr>
          <p:cNvSpPr/>
          <p:nvPr/>
        </p:nvSpPr>
        <p:spPr>
          <a:xfrm>
            <a:off x="7370325" y="2249629"/>
            <a:ext cx="1511030" cy="622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MLP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FC56B474-7DBC-44E1-7CA6-7AE394EC6B8B}"/>
              </a:ext>
            </a:extLst>
          </p:cNvPr>
          <p:cNvCxnSpPr/>
          <p:nvPr/>
        </p:nvCxnSpPr>
        <p:spPr>
          <a:xfrm>
            <a:off x="8995655" y="1762426"/>
            <a:ext cx="415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5C256F9-F898-7854-06E4-B413C69A752D}"/>
              </a:ext>
            </a:extLst>
          </p:cNvPr>
          <p:cNvCxnSpPr/>
          <p:nvPr/>
        </p:nvCxnSpPr>
        <p:spPr>
          <a:xfrm>
            <a:off x="8995655" y="2560914"/>
            <a:ext cx="415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5B385E18-F33E-112B-1802-E4818D5E40DD}"/>
                  </a:ext>
                </a:extLst>
              </p:cNvPr>
              <p:cNvSpPr txBox="1"/>
              <p:nvPr/>
            </p:nvSpPr>
            <p:spPr>
              <a:xfrm>
                <a:off x="9494195" y="1601821"/>
                <a:ext cx="11381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5B385E18-F33E-112B-1802-E4818D5E4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195" y="1601821"/>
                <a:ext cx="1138135" cy="369332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34956597-8433-F58D-9A1E-3B7D1481CDC9}"/>
                  </a:ext>
                </a:extLst>
              </p:cNvPr>
              <p:cNvSpPr txBox="1"/>
              <p:nvPr/>
            </p:nvSpPr>
            <p:spPr>
              <a:xfrm>
                <a:off x="9140761" y="2376248"/>
                <a:ext cx="22633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34956597-8433-F58D-9A1E-3B7D1481C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0761" y="2376248"/>
                <a:ext cx="2263304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Ellipse 38">
            <a:extLst>
              <a:ext uri="{FF2B5EF4-FFF2-40B4-BE49-F238E27FC236}">
                <a16:creationId xmlns:a16="http://schemas.microsoft.com/office/drawing/2014/main" id="{EF85B1F1-6E31-B2C4-3BB0-1429C40D58F5}"/>
              </a:ext>
            </a:extLst>
          </p:cNvPr>
          <p:cNvSpPr/>
          <p:nvPr/>
        </p:nvSpPr>
        <p:spPr>
          <a:xfrm>
            <a:off x="1932562" y="1536970"/>
            <a:ext cx="2302213" cy="1023943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4CC6067-B29F-8164-DA60-696C89AACDCC}"/>
              </a:ext>
            </a:extLst>
          </p:cNvPr>
          <p:cNvSpPr/>
          <p:nvPr/>
        </p:nvSpPr>
        <p:spPr>
          <a:xfrm>
            <a:off x="2396247" y="3340472"/>
            <a:ext cx="1374842" cy="693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Conv</a:t>
            </a:r>
            <a:r>
              <a:rPr lang="de-DE" dirty="0">
                <a:solidFill>
                  <a:sysClr val="windowText" lastClr="000000"/>
                </a:solidFill>
              </a:rPr>
              <a:t>(1x1)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7BDC0A2-0300-2895-C1B6-1632FE0E144D}"/>
              </a:ext>
            </a:extLst>
          </p:cNvPr>
          <p:cNvCxnSpPr>
            <a:cxnSpLocks/>
          </p:cNvCxnSpPr>
          <p:nvPr/>
        </p:nvCxnSpPr>
        <p:spPr>
          <a:xfrm flipV="1">
            <a:off x="3083668" y="2745580"/>
            <a:ext cx="0" cy="5099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DE9FD0EE-1AA1-8EA2-D761-36083DC6CB15}"/>
              </a:ext>
            </a:extLst>
          </p:cNvPr>
          <p:cNvSpPr/>
          <p:nvPr/>
        </p:nvSpPr>
        <p:spPr>
          <a:xfrm>
            <a:off x="2396247" y="4253892"/>
            <a:ext cx="1374842" cy="693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Conv</a:t>
            </a:r>
            <a:r>
              <a:rPr lang="de-DE" dirty="0">
                <a:solidFill>
                  <a:sysClr val="windowText" lastClr="000000"/>
                </a:solidFill>
              </a:rPr>
              <a:t>(1x1)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BE3864E3-49DF-80E8-1D49-E6E1B709B5D1}"/>
              </a:ext>
            </a:extLst>
          </p:cNvPr>
          <p:cNvSpPr/>
          <p:nvPr/>
        </p:nvSpPr>
        <p:spPr>
          <a:xfrm>
            <a:off x="2396247" y="5167312"/>
            <a:ext cx="1374842" cy="693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Conv</a:t>
            </a:r>
            <a:r>
              <a:rPr lang="de-DE" dirty="0">
                <a:solidFill>
                  <a:sysClr val="windowText" lastClr="000000"/>
                </a:solidFill>
              </a:rPr>
              <a:t>(1x1)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90529DE3-E244-7720-4CB5-9B5BF9BC9A4A}"/>
              </a:ext>
            </a:extLst>
          </p:cNvPr>
          <p:cNvCxnSpPr>
            <a:stCxn id="43" idx="2"/>
            <a:endCxn id="46" idx="0"/>
          </p:cNvCxnSpPr>
          <p:nvPr/>
        </p:nvCxnSpPr>
        <p:spPr>
          <a:xfrm>
            <a:off x="3083668" y="4034378"/>
            <a:ext cx="0" cy="219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0D8A78C9-F419-3F64-3B14-CD3B10C4B308}"/>
              </a:ext>
            </a:extLst>
          </p:cNvPr>
          <p:cNvCxnSpPr/>
          <p:nvPr/>
        </p:nvCxnSpPr>
        <p:spPr>
          <a:xfrm>
            <a:off x="3083668" y="4947798"/>
            <a:ext cx="0" cy="219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0E6492D8-3EE8-BFA3-8BB5-2AAA942DE583}"/>
              </a:ext>
            </a:extLst>
          </p:cNvPr>
          <p:cNvSpPr/>
          <p:nvPr/>
        </p:nvSpPr>
        <p:spPr>
          <a:xfrm>
            <a:off x="356681" y="1264596"/>
            <a:ext cx="11342451" cy="5228279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25FBAAF4-C8D5-A2FD-6D64-16A98E789437}"/>
              </a:ext>
            </a:extLst>
          </p:cNvPr>
          <p:cNvSpPr txBox="1"/>
          <p:nvPr/>
        </p:nvSpPr>
        <p:spPr>
          <a:xfrm>
            <a:off x="9699206" y="5693706"/>
            <a:ext cx="2263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Encoder</a:t>
            </a:r>
            <a:endParaRPr lang="en-GB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3AEC4157-8A11-524A-08F0-EAB51DE12691}"/>
                  </a:ext>
                </a:extLst>
              </p:cNvPr>
              <p:cNvSpPr txBox="1"/>
              <p:nvPr/>
            </p:nvSpPr>
            <p:spPr>
              <a:xfrm>
                <a:off x="8995655" y="2867158"/>
                <a:ext cx="22535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3AEC4157-8A11-524A-08F0-EAB51DE12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655" y="2867158"/>
                <a:ext cx="225357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57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/>
      <p:bldP spid="18" grpId="0"/>
      <p:bldP spid="19" grpId="0"/>
      <p:bldP spid="21" grpId="0"/>
      <p:bldP spid="22" grpId="0"/>
      <p:bldP spid="30" grpId="0" animBg="1"/>
      <p:bldP spid="31" grpId="0" animBg="1"/>
      <p:bldP spid="37" grpId="0"/>
      <p:bldP spid="38" grpId="0"/>
      <p:bldP spid="39" grpId="0" animBg="1"/>
      <p:bldP spid="43" grpId="0" animBg="1"/>
      <p:bldP spid="46" grpId="0" animBg="1"/>
      <p:bldP spid="47" grpId="0" animBg="1"/>
      <p:bldP spid="52" grpId="0" animBg="1"/>
      <p:bldP spid="53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5E3CC-B5EF-F9AA-BD7D-BF296BAE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VAE - Model Architecture Decoder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2B8BC7D-4656-F902-5706-AFB7A12E9923}"/>
                  </a:ext>
                </a:extLst>
              </p:cNvPr>
              <p:cNvSpPr txBox="1"/>
              <p:nvPr/>
            </p:nvSpPr>
            <p:spPr>
              <a:xfrm>
                <a:off x="699861" y="1506022"/>
                <a:ext cx="11381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2B8BC7D-4656-F902-5706-AFB7A12E9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861" y="1506022"/>
                <a:ext cx="1138135" cy="369332"/>
              </a:xfrm>
              <a:prstGeom prst="rect">
                <a:avLst/>
              </a:prstGeom>
              <a:blipFill>
                <a:blip r:embed="rId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8D5CEB9-3334-A4F9-16A5-8A39761B1E07}"/>
                  </a:ext>
                </a:extLst>
              </p:cNvPr>
              <p:cNvSpPr txBox="1"/>
              <p:nvPr/>
            </p:nvSpPr>
            <p:spPr>
              <a:xfrm>
                <a:off x="137277" y="1988619"/>
                <a:ext cx="22633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8D5CEB9-3334-A4F9-16A5-8A39761B1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7" y="1988619"/>
                <a:ext cx="2263304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80450876-04E3-82FB-0A48-EC3465E3C4B9}"/>
              </a:ext>
            </a:extLst>
          </p:cNvPr>
          <p:cNvCxnSpPr/>
          <p:nvPr/>
        </p:nvCxnSpPr>
        <p:spPr>
          <a:xfrm>
            <a:off x="2150601" y="1875354"/>
            <a:ext cx="4999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D653A11-178D-896D-6DFB-0F5FDED42158}"/>
                  </a:ext>
                </a:extLst>
              </p:cNvPr>
              <p:cNvSpPr txBox="1"/>
              <p:nvPr/>
            </p:nvSpPr>
            <p:spPr>
              <a:xfrm>
                <a:off x="2713186" y="1690688"/>
                <a:ext cx="8752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z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D653A11-178D-896D-6DFB-0F5FDED42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186" y="1690688"/>
                <a:ext cx="875279" cy="369332"/>
              </a:xfrm>
              <a:prstGeom prst="rect">
                <a:avLst/>
              </a:prstGeom>
              <a:blipFill>
                <a:blip r:embed="rId4"/>
                <a:stretch>
                  <a:fillRect l="-5556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3058EA24-B993-D4F1-3AD5-A1E796D2DDA5}"/>
              </a:ext>
            </a:extLst>
          </p:cNvPr>
          <p:cNvSpPr/>
          <p:nvPr/>
        </p:nvSpPr>
        <p:spPr>
          <a:xfrm>
            <a:off x="4032638" y="1590172"/>
            <a:ext cx="1164380" cy="5831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Upsample</a:t>
            </a:r>
            <a:endParaRPr lang="de-DE" dirty="0">
              <a:solidFill>
                <a:sysClr val="windowText" lastClr="000000"/>
              </a:solidFill>
            </a:endParaRPr>
          </a:p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Linear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AA68063-1D4B-5D6E-9611-98527D7E9072}"/>
              </a:ext>
            </a:extLst>
          </p:cNvPr>
          <p:cNvCxnSpPr>
            <a:stCxn id="8" idx="3"/>
          </p:cNvCxnSpPr>
          <p:nvPr/>
        </p:nvCxnSpPr>
        <p:spPr>
          <a:xfrm>
            <a:off x="3588465" y="1875354"/>
            <a:ext cx="325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01D83-D90A-3F05-8A18-C6148A7A3E21}"/>
              </a:ext>
            </a:extLst>
          </p:cNvPr>
          <p:cNvCxnSpPr/>
          <p:nvPr/>
        </p:nvCxnSpPr>
        <p:spPr>
          <a:xfrm>
            <a:off x="5378891" y="1863799"/>
            <a:ext cx="325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CD8C6EBC-7D3D-EE4D-80FC-C16ABD3FC2DD}"/>
              </a:ext>
            </a:extLst>
          </p:cNvPr>
          <p:cNvSpPr/>
          <p:nvPr/>
        </p:nvSpPr>
        <p:spPr>
          <a:xfrm>
            <a:off x="5919479" y="1588367"/>
            <a:ext cx="1164380" cy="5831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ResBlock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EBB21E9-408F-7A67-E707-BDCB77832DC4}"/>
              </a:ext>
            </a:extLst>
          </p:cNvPr>
          <p:cNvSpPr/>
          <p:nvPr/>
        </p:nvSpPr>
        <p:spPr>
          <a:xfrm>
            <a:off x="7518514" y="1587634"/>
            <a:ext cx="1164380" cy="5831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Upsample</a:t>
            </a:r>
            <a:endParaRPr lang="de-DE" dirty="0">
              <a:solidFill>
                <a:sysClr val="windowText" lastClr="000000"/>
              </a:solidFill>
            </a:endParaRPr>
          </a:p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Linear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D55A3BF5-9721-428D-1755-0422750FB97B}"/>
              </a:ext>
            </a:extLst>
          </p:cNvPr>
          <p:cNvCxnSpPr/>
          <p:nvPr/>
        </p:nvCxnSpPr>
        <p:spPr>
          <a:xfrm>
            <a:off x="8860580" y="1863798"/>
            <a:ext cx="325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47DE6876-B121-07EF-6CAA-B4772B1B40BF}"/>
              </a:ext>
            </a:extLst>
          </p:cNvPr>
          <p:cNvSpPr/>
          <p:nvPr/>
        </p:nvSpPr>
        <p:spPr>
          <a:xfrm>
            <a:off x="9363959" y="1572241"/>
            <a:ext cx="1164380" cy="5831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</a:rPr>
              <a:t>ResBlock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4A3E7C1-5FAA-A555-BBB6-D4CBEBE1C5CF}"/>
              </a:ext>
            </a:extLst>
          </p:cNvPr>
          <p:cNvCxnSpPr/>
          <p:nvPr/>
        </p:nvCxnSpPr>
        <p:spPr>
          <a:xfrm>
            <a:off x="7138131" y="1857016"/>
            <a:ext cx="325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99B6482-0292-34B2-F883-8F12481BCD78}"/>
              </a:ext>
            </a:extLst>
          </p:cNvPr>
          <p:cNvGrpSpPr/>
          <p:nvPr/>
        </p:nvGrpSpPr>
        <p:grpSpPr>
          <a:xfrm>
            <a:off x="1085724" y="3716005"/>
            <a:ext cx="434503" cy="419095"/>
            <a:chOff x="995464" y="1690688"/>
            <a:chExt cx="434503" cy="419095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857A8762-B41A-11B2-86EB-74CAC00D4A52}"/>
                </a:ext>
              </a:extLst>
            </p:cNvPr>
            <p:cNvSpPr/>
            <p:nvPr/>
          </p:nvSpPr>
          <p:spPr>
            <a:xfrm>
              <a:off x="1134894" y="1690688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ED35D579-1970-9AA9-C6FF-B4A7CA00FBD4}"/>
                </a:ext>
              </a:extLst>
            </p:cNvPr>
            <p:cNvSpPr/>
            <p:nvPr/>
          </p:nvSpPr>
          <p:spPr>
            <a:xfrm>
              <a:off x="995464" y="1843087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1B7A387F-D849-528F-F3CD-B855B8136455}"/>
                </a:ext>
              </a:extLst>
            </p:cNvPr>
            <p:cNvSpPr/>
            <p:nvPr/>
          </p:nvSpPr>
          <p:spPr>
            <a:xfrm>
              <a:off x="1164077" y="1888806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2EA117C5-056C-E369-540A-9B6DCFDCBFCB}"/>
                </a:ext>
              </a:extLst>
            </p:cNvPr>
            <p:cNvSpPr/>
            <p:nvPr/>
          </p:nvSpPr>
          <p:spPr>
            <a:xfrm>
              <a:off x="1371601" y="1766887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B06F1193-7B22-9653-CCEE-6C19A852BB14}"/>
                </a:ext>
              </a:extLst>
            </p:cNvPr>
            <p:cNvSpPr/>
            <p:nvPr/>
          </p:nvSpPr>
          <p:spPr>
            <a:xfrm>
              <a:off x="1371601" y="1890769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1DA1A4BA-339C-731A-624C-5E48203EDC9B}"/>
                </a:ext>
              </a:extLst>
            </p:cNvPr>
            <p:cNvSpPr/>
            <p:nvPr/>
          </p:nvSpPr>
          <p:spPr>
            <a:xfrm>
              <a:off x="1193260" y="2064064"/>
              <a:ext cx="58366" cy="4571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3C7C7729-6C89-9E57-CCF9-4EADA258C3A3}"/>
                  </a:ext>
                </a:extLst>
              </p:cNvPr>
              <p:cNvSpPr txBox="1"/>
              <p:nvPr/>
            </p:nvSpPr>
            <p:spPr>
              <a:xfrm>
                <a:off x="849018" y="4278992"/>
                <a:ext cx="9857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3C7C7729-6C89-9E57-CCF9-4EADA258C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18" y="4278992"/>
                <a:ext cx="9857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feld 26">
            <a:extLst>
              <a:ext uri="{FF2B5EF4-FFF2-40B4-BE49-F238E27FC236}">
                <a16:creationId xmlns:a16="http://schemas.microsoft.com/office/drawing/2014/main" id="{42EE2CFA-5C4B-FA9C-FCEC-471D3523FB0E}"/>
              </a:ext>
            </a:extLst>
          </p:cNvPr>
          <p:cNvSpPr txBox="1"/>
          <p:nvPr/>
        </p:nvSpPr>
        <p:spPr>
          <a:xfrm>
            <a:off x="699861" y="4643861"/>
            <a:ext cx="1297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Pointcloud</a:t>
            </a:r>
            <a:endParaRPr lang="en-GB" dirty="0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6DDDDFB3-2A1D-EBEB-7F3F-A7DCC4BD62D4}"/>
              </a:ext>
            </a:extLst>
          </p:cNvPr>
          <p:cNvCxnSpPr>
            <a:cxnSpLocks/>
          </p:cNvCxnSpPr>
          <p:nvPr/>
        </p:nvCxnSpPr>
        <p:spPr>
          <a:xfrm>
            <a:off x="10604409" y="1857016"/>
            <a:ext cx="3881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F3662E5-AD6D-B63B-5325-39155DC706D1}"/>
              </a:ext>
            </a:extLst>
          </p:cNvPr>
          <p:cNvCxnSpPr/>
          <p:nvPr/>
        </p:nvCxnSpPr>
        <p:spPr>
          <a:xfrm>
            <a:off x="10985957" y="1857016"/>
            <a:ext cx="0" cy="8072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6BFED5A4-4135-B95D-1506-D1E76C11E7E7}"/>
              </a:ext>
            </a:extLst>
          </p:cNvPr>
          <p:cNvCxnSpPr/>
          <p:nvPr/>
        </p:nvCxnSpPr>
        <p:spPr>
          <a:xfrm flipH="1">
            <a:off x="1341886" y="2664259"/>
            <a:ext cx="96506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F2955CE-4CE6-2796-2C5E-F9000A78DBB5}"/>
              </a:ext>
            </a:extLst>
          </p:cNvPr>
          <p:cNvCxnSpPr/>
          <p:nvPr/>
        </p:nvCxnSpPr>
        <p:spPr>
          <a:xfrm>
            <a:off x="1341886" y="2664259"/>
            <a:ext cx="0" cy="76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D30C3D9C-4B44-0EA5-5EB5-E66A6F0E711F}"/>
              </a:ext>
            </a:extLst>
          </p:cNvPr>
          <p:cNvSpPr/>
          <p:nvPr/>
        </p:nvSpPr>
        <p:spPr>
          <a:xfrm>
            <a:off x="335499" y="1427517"/>
            <a:ext cx="11262251" cy="4262814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EDF4C35E-44AC-3732-75FA-8723C0439129}"/>
              </a:ext>
            </a:extLst>
          </p:cNvPr>
          <p:cNvSpPr txBox="1"/>
          <p:nvPr/>
        </p:nvSpPr>
        <p:spPr>
          <a:xfrm>
            <a:off x="9484285" y="4882955"/>
            <a:ext cx="20881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Decoder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24890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 animBg="1"/>
      <p:bldP spid="14" grpId="0" animBg="1"/>
      <p:bldP spid="15" grpId="0" animBg="1"/>
      <p:bldP spid="17" grpId="0" animBg="1"/>
      <p:bldP spid="26" grpId="0"/>
      <p:bldP spid="27" grpId="0"/>
      <p:bldP spid="37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2D095F-4522-0822-2F19-9AEC13B2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 </a:t>
            </a:r>
            <a:r>
              <a:rPr lang="de-DE" dirty="0" err="1"/>
              <a:t>with</a:t>
            </a:r>
            <a:r>
              <a:rPr lang="de-DE" dirty="0"/>
              <a:t> 1000 </a:t>
            </a:r>
            <a:r>
              <a:rPr lang="de-DE" dirty="0" err="1"/>
              <a:t>Epochs</a:t>
            </a:r>
            <a:endParaRPr lang="en-GB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E537A93-0D7B-D203-7769-A6BFD2F09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07" y="1690688"/>
            <a:ext cx="5420481" cy="430590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4EB1E90A-2641-9208-E1FD-FE4908F030EB}"/>
              </a:ext>
            </a:extLst>
          </p:cNvPr>
          <p:cNvCxnSpPr/>
          <p:nvPr/>
        </p:nvCxnSpPr>
        <p:spPr>
          <a:xfrm flipV="1">
            <a:off x="6038987" y="4960127"/>
            <a:ext cx="1848535" cy="3091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3376507D-FC04-2749-5D61-24F3A874BD4C}"/>
              </a:ext>
            </a:extLst>
          </p:cNvPr>
          <p:cNvSpPr txBox="1"/>
          <p:nvPr/>
        </p:nvSpPr>
        <p:spPr>
          <a:xfrm>
            <a:off x="7988460" y="4514554"/>
            <a:ext cx="2319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Low </a:t>
            </a:r>
            <a:r>
              <a:rPr lang="de-DE" dirty="0" err="1"/>
              <a:t>chamfer</a:t>
            </a:r>
            <a:r>
              <a:rPr lang="de-DE" dirty="0"/>
              <a:t> and </a:t>
            </a:r>
            <a:r>
              <a:rPr lang="de-DE" dirty="0" err="1"/>
              <a:t>vae</a:t>
            </a:r>
            <a:r>
              <a:rPr lang="de-DE" dirty="0"/>
              <a:t> </a:t>
            </a:r>
            <a:r>
              <a:rPr lang="de-DE" dirty="0" err="1"/>
              <a:t>loss</a:t>
            </a:r>
            <a:r>
              <a:rPr lang="de-DE" dirty="0"/>
              <a:t> </a:t>
            </a:r>
          </a:p>
          <a:p>
            <a:r>
              <a:rPr lang="de-DE" dirty="0"/>
              <a:t>also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stable</a:t>
            </a:r>
            <a:endParaRPr lang="en-GB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2606B902-6AC2-34C7-7A82-A240F8CFD97D}"/>
              </a:ext>
            </a:extLst>
          </p:cNvPr>
          <p:cNvCxnSpPr/>
          <p:nvPr/>
        </p:nvCxnSpPr>
        <p:spPr>
          <a:xfrm flipV="1">
            <a:off x="5953468" y="3065542"/>
            <a:ext cx="2197191" cy="8091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3A11EBAB-C37A-CBE2-5C48-5392FD98DBA0}"/>
              </a:ext>
            </a:extLst>
          </p:cNvPr>
          <p:cNvSpPr txBox="1"/>
          <p:nvPr/>
        </p:nvSpPr>
        <p:spPr>
          <a:xfrm>
            <a:off x="8150659" y="2637122"/>
            <a:ext cx="2657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Keeps</a:t>
            </a:r>
            <a:r>
              <a:rPr lang="de-DE" dirty="0"/>
              <a:t> </a:t>
            </a:r>
            <a:r>
              <a:rPr lang="de-DE" dirty="0" err="1"/>
              <a:t>decreasing</a:t>
            </a:r>
            <a:r>
              <a:rPr lang="de-DE" dirty="0"/>
              <a:t>, </a:t>
            </a:r>
            <a:r>
              <a:rPr lang="de-DE" dirty="0" err="1"/>
              <a:t>convergence</a:t>
            </a:r>
            <a:r>
              <a:rPr lang="de-DE" dirty="0"/>
              <a:t> not </a:t>
            </a:r>
            <a:r>
              <a:rPr lang="de-DE" dirty="0" err="1"/>
              <a:t>reached</a:t>
            </a:r>
            <a:endParaRPr lang="en-GB" dirty="0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A47994D-AF25-B32C-3DCE-814A8593EE1D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6038987" y="3752166"/>
            <a:ext cx="2249819" cy="14118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57C8C27A-E1D0-A5C9-8AB9-08565AFE8FF6}"/>
              </a:ext>
            </a:extLst>
          </p:cNvPr>
          <p:cNvSpPr txBox="1"/>
          <p:nvPr/>
        </p:nvSpPr>
        <p:spPr>
          <a:xfrm>
            <a:off x="8288806" y="3429000"/>
            <a:ext cx="1723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While </a:t>
            </a:r>
            <a:r>
              <a:rPr lang="de-DE" dirty="0" err="1"/>
              <a:t>vae</a:t>
            </a:r>
            <a:r>
              <a:rPr lang="de-DE" dirty="0"/>
              <a:t>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stays</a:t>
            </a:r>
            <a:r>
              <a:rPr lang="de-DE" dirty="0"/>
              <a:t> </a:t>
            </a:r>
            <a:r>
              <a:rPr lang="de-DE" dirty="0" err="1"/>
              <a:t>low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957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F9DFD8-94CF-D2BC-D910-949C074D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 </a:t>
            </a:r>
            <a:r>
              <a:rPr lang="de-DE" dirty="0" err="1"/>
              <a:t>with</a:t>
            </a:r>
            <a:r>
              <a:rPr lang="de-DE" dirty="0"/>
              <a:t> 5000 </a:t>
            </a:r>
            <a:r>
              <a:rPr lang="de-DE" dirty="0" err="1"/>
              <a:t>Epochs</a:t>
            </a:r>
            <a:endParaRPr lang="en-GB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E7E4996-47E3-622C-0884-6190C2C64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270" y="1690688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40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8D089A-C9EC-36D9-F9A7-6D931FCF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Comparing</a:t>
            </a:r>
            <a:r>
              <a:rPr lang="de-DE" dirty="0"/>
              <a:t> </a:t>
            </a:r>
            <a:r>
              <a:rPr lang="de-DE" dirty="0" err="1"/>
              <a:t>predicted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Pcs</a:t>
            </a:r>
            <a:r>
              <a:rPr lang="de-DE" dirty="0"/>
              <a:t> 1000 </a:t>
            </a:r>
            <a:r>
              <a:rPr lang="de-DE" dirty="0" err="1"/>
              <a:t>Epochs</a:t>
            </a:r>
            <a:endParaRPr lang="en-GB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E721278-EB7F-01F5-08ED-C92ABDF37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7" y="1929155"/>
            <a:ext cx="6141209" cy="320254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23914B4-6901-950E-DD34-4346C6C7A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973" y="1929155"/>
            <a:ext cx="6141210" cy="320254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4F56948-3F0C-B04C-6988-ED09FB9ED0AB}"/>
              </a:ext>
            </a:extLst>
          </p:cNvPr>
          <p:cNvSpPr txBox="1"/>
          <p:nvPr/>
        </p:nvSpPr>
        <p:spPr>
          <a:xfrm>
            <a:off x="2558328" y="1841992"/>
            <a:ext cx="934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Target</a:t>
            </a:r>
            <a:endParaRPr lang="en-GB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36985D8-17C7-92FE-1616-1285C4F8D50E}"/>
              </a:ext>
            </a:extLst>
          </p:cNvPr>
          <p:cNvSpPr txBox="1"/>
          <p:nvPr/>
        </p:nvSpPr>
        <p:spPr>
          <a:xfrm>
            <a:off x="8091032" y="1822292"/>
            <a:ext cx="121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Predicted</a:t>
            </a:r>
            <a:endParaRPr lang="en-GB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7EE7B70-FED9-9570-BB58-AF727EB6FB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879" y="4883903"/>
            <a:ext cx="133368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85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C502D-A123-11E9-8C82-CF3855A73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Comparing</a:t>
            </a:r>
            <a:r>
              <a:rPr lang="de-DE" dirty="0"/>
              <a:t> </a:t>
            </a:r>
            <a:r>
              <a:rPr lang="de-DE" dirty="0" err="1"/>
              <a:t>predicted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Pcs</a:t>
            </a:r>
            <a:r>
              <a:rPr lang="de-DE" dirty="0"/>
              <a:t> 1000 </a:t>
            </a:r>
            <a:r>
              <a:rPr lang="de-DE" dirty="0" err="1"/>
              <a:t>Epochs</a:t>
            </a:r>
            <a:endParaRPr lang="en-GB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D1A45F78-6671-83C8-21D0-F846D8916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02" y="1953656"/>
            <a:ext cx="5658246" cy="295068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A723A2E-EDFB-8B7E-E784-480377263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206" y="1764682"/>
            <a:ext cx="6382999" cy="332863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90B6952-0335-34CC-78AE-37433AFB5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193" y="4701925"/>
            <a:ext cx="1571844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50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8BD0D7-0B36-C6AD-03E0-646407AD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Future Research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46252DA-9753-B50A-60B9-3662B67E7C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Investigate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quality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latent </a:t>
                </a:r>
                <a:r>
                  <a:rPr lang="de-DE" dirty="0" err="1"/>
                  <a:t>space</a:t>
                </a:r>
                <a:endParaRPr lang="de-DE" dirty="0"/>
              </a:p>
              <a:p>
                <a:pPr lvl="1"/>
                <a:r>
                  <a:rPr lang="de-DE" dirty="0"/>
                  <a:t>Reconstruction Quality </a:t>
                </a:r>
                <a:r>
                  <a:rPr lang="de-DE" dirty="0" err="1"/>
                  <a:t>from</a:t>
                </a:r>
                <a:r>
                  <a:rPr lang="de-DE" dirty="0"/>
                  <a:t> latent </a:t>
                </a:r>
                <a:r>
                  <a:rPr lang="de-DE" dirty="0" err="1"/>
                  <a:t>space</a:t>
                </a:r>
                <a:r>
                  <a:rPr lang="de-DE" dirty="0"/>
                  <a:t> </a:t>
                </a:r>
                <a:r>
                  <a:rPr lang="de-DE" dirty="0" err="1"/>
                  <a:t>interpolation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Visualize latent Space with PCA</a:t>
                </a:r>
              </a:p>
              <a:p>
                <a:pPr lvl="1"/>
                <a:r>
                  <a:rPr lang="en-GB" dirty="0"/>
                  <a:t>Is the latent space gaussian, is it continuous, what is the scale of the latent space; Latent diffusion needs scale one</a:t>
                </a:r>
              </a:p>
              <a:p>
                <a:r>
                  <a:rPr lang="en-GB" dirty="0"/>
                  <a:t>Try out more compression, i.e. experiment with different latent space dimensions</a:t>
                </a:r>
              </a:p>
              <a:p>
                <a:r>
                  <a:rPr lang="en-GB" dirty="0"/>
                  <a:t>Try out lower and higher KL-Annealing</a:t>
                </a:r>
              </a:p>
              <a:p>
                <a:r>
                  <a:rPr lang="en-GB" dirty="0"/>
                  <a:t>Perform Diffusion in the latent space of the pretrained VAE 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46252DA-9753-B50A-60B9-3662B67E7C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641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Breitbild</PresentationFormat>
  <Paragraphs>49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</vt:lpstr>
      <vt:lpstr>VAE</vt:lpstr>
      <vt:lpstr>VAE-Model Architecture Encoder</vt:lpstr>
      <vt:lpstr>VAE - Model Architecture Decoder</vt:lpstr>
      <vt:lpstr>Training with 1000 Epochs</vt:lpstr>
      <vt:lpstr>Training with 5000 Epochs</vt:lpstr>
      <vt:lpstr>Comparing predicted vs target Pcs 1000 Epochs</vt:lpstr>
      <vt:lpstr>Comparing predicted vs target Pcs 1000 Epochs</vt:lpstr>
      <vt:lpstr>Future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Yankacar</dc:creator>
  <cp:lastModifiedBy>Christian Yankacar</cp:lastModifiedBy>
  <cp:revision>1</cp:revision>
  <dcterms:created xsi:type="dcterms:W3CDTF">2026-05-20T12:00:15Z</dcterms:created>
  <dcterms:modified xsi:type="dcterms:W3CDTF">2026-05-20T13:00:25Z</dcterms:modified>
</cp:coreProperties>
</file>