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4" r:id="rId4"/>
    <p:sldId id="265" r:id="rId5"/>
    <p:sldId id="266" r:id="rId6"/>
    <p:sldId id="267" r:id="rId7"/>
    <p:sldId id="268" r:id="rId8"/>
    <p:sldId id="260" r:id="rId9"/>
    <p:sldId id="269" r:id="rId10"/>
    <p:sldId id="257" r:id="rId11"/>
    <p:sldId id="259" r:id="rId12"/>
    <p:sldId id="258" r:id="rId13"/>
    <p:sldId id="262" r:id="rId14"/>
    <p:sldId id="26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1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1B1A61-29DC-BBC7-73E3-F67EA344FC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E86F2E9-626D-6F99-29D8-D0482A73FB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5F51F99-282D-B4B3-7AE8-35931EA27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BA58-ACF5-4337-840E-E6FC519009D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5641E4-FB42-B0A0-DB54-B6DD5F369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A66405-C2CE-4311-B1DD-38871B254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187E-65AD-4BAD-9450-814827B4FEB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914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6919E9-BFFC-9844-7BED-0F8E2D61F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1ECCEB-2110-9AF1-102E-BA6011F7C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468BC0-C70F-A199-66B8-0C700A245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BA58-ACF5-4337-840E-E6FC519009D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3AB00D-3F7F-3D85-F0E5-B7B6942AC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60A5B6A-116D-CA1C-0506-FCBF48742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187E-65AD-4BAD-9450-814827B4FEB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3576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0EBC74-CF8B-873E-F9AF-DDB749896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221B106-315B-C1D5-CCD4-0EFB13520A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031D9C-8778-26D6-D2D5-C5D2CC59F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BA58-ACF5-4337-840E-E6FC519009D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326C9F-E949-B20A-F25C-86E8DF2E0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617D27-C430-C63D-223C-5A970B0AF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187E-65AD-4BAD-9450-814827B4FEB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95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FDC783-C747-97A2-D7A1-39F0E5225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F5EA2E-1A46-92F7-8F47-667AE3C07D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5BB0F50-A40B-0311-8728-DB62429098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CCEBD8E-7151-1C68-0FBE-94BB51B6C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BA58-ACF5-4337-840E-E6FC519009D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E74D4A6-7964-9AFF-71FA-C6E0AA89C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33A049-228A-B515-5303-7AD558FA0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187E-65AD-4BAD-9450-814827B4FEB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5605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0AE506-70E2-9DE9-5CD0-385BACA5F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D68AFF-BB68-B109-44AE-61D27354F0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35CEB0B-272C-0F24-1992-128A69443E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4C2F7A9-E816-E938-3087-F6246BFE9A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FAFCB4E-7C5C-5E05-D4E8-330312D3CD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96476E-D62F-63BC-C7CC-C1B869042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BA58-ACF5-4337-840E-E6FC519009D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FE8A4EE-339F-9C54-9CE3-F511CCFC4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0C51C54-56CC-79F0-9C74-8CED6DF6A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187E-65AD-4BAD-9450-814827B4FEB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4943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442A17-0906-CE4B-A478-394977874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76A5224-0257-C46D-3D1F-84E6C95C4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BA58-ACF5-4337-840E-E6FC519009D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86A52D3-C52D-FBE3-384B-E31FF88BE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044CBEE-2550-97EC-940B-71621E415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187E-65AD-4BAD-9450-814827B4FEB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2969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D4BF128-92BC-D72A-5C62-B9EC1A93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BA58-ACF5-4337-840E-E6FC519009D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088D2AB-B224-84AE-BC81-9B107F515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AEAFAB-6408-BCF5-23E4-DADD5C98C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187E-65AD-4BAD-9450-814827B4FEB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5125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FB0121-9751-D8F4-E9ED-861FDAAA6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C4D95-EDE2-DBE8-4951-EC093E7E7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2A97221-BD18-F5BE-AE4D-49434E185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687DC69-B96B-1BC1-7539-5A33F148B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BA58-ACF5-4337-840E-E6FC519009D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DD871D5-96DA-4BF7-328B-5803B085F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B4C36E-29A2-3092-B70A-40E40C559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187E-65AD-4BAD-9450-814827B4FEB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3716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1299A1-47AE-8E2C-05D0-EED3CA185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AAC9B98-FFE9-FF25-BDAA-000E6ED2D0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765364-33E2-ACBD-A21C-F48039B264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35D0C77-F2FB-90FE-C1BB-0262CB4C5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BA58-ACF5-4337-840E-E6FC519009D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9B76C2-CE06-D7D7-1970-B90397709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0D1494B-041E-319F-380E-CD07A7322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187E-65AD-4BAD-9450-814827B4FEB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1594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9CE25D-5FE7-CA29-19A4-7853518BD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C4EE128-7511-BE1E-E69B-60F1F92F1A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2D35F7F-C347-2BAE-F817-09004F558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BA58-ACF5-4337-840E-E6FC519009D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65BDAD4-AAC5-6DC2-DAB0-4C1E4CE4B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F06A497-0AA1-EDC5-23FC-1281C0298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187E-65AD-4BAD-9450-814827B4FEB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7936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FE0A92F-E62B-25B0-4A42-938DF93730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919321D-FB7E-B4A8-A6A4-F420D47EE1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22B367-3089-F4C8-9341-84B5CAB66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BA58-ACF5-4337-840E-E6FC519009D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D218348-85B0-774A-FA52-AC7F3BD88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FA8833-DBEE-6145-50C1-DB190FC6F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187E-65AD-4BAD-9450-814827B4FEB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853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AD94B06-EB19-8286-31AF-650BCE762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1A042B6-D55F-B3F5-FD74-9FAD758B9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7C71FD-8A2C-EB47-B520-892630EEE0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9FBA58-ACF5-4337-840E-E6FC519009D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C920C0C-BB28-EEFC-D799-B96DADC5D3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30703-C971-2AB5-C89E-1180F2F0F6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E187E-65AD-4BAD-9450-814827B4FEB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468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image" Target="../media/image2.png"/><Relationship Id="rId12" Type="http://schemas.openxmlformats.org/officeDocument/2006/relationships/image" Target="../media/image1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7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1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DDC881-8A51-8A72-54C7-E097E4F968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Generating Point Clouds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Grasps</a:t>
            </a:r>
            <a:br>
              <a:rPr lang="de-DE" dirty="0"/>
            </a:br>
            <a:r>
              <a:rPr lang="de-DE" dirty="0"/>
              <a:t>Milestones</a:t>
            </a:r>
            <a:endParaRPr lang="en-GB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5F7648D-4F4B-027B-D9EA-42CF042400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Christian Yankacar and Nikola </a:t>
            </a:r>
            <a:r>
              <a:rPr lang="de-DE" dirty="0" err="1"/>
              <a:t>Jankulovic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6948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6C0E2E-121C-F346-90BD-516142E03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77292"/>
          </a:xfrm>
        </p:spPr>
        <p:txBody>
          <a:bodyPr>
            <a:normAutofit/>
          </a:bodyPr>
          <a:lstStyle/>
          <a:p>
            <a:r>
              <a:rPr lang="de-DE" sz="3200" dirty="0"/>
              <a:t>Problem Definition</a:t>
            </a:r>
            <a:endParaRPr lang="en-GB" sz="3200" dirty="0"/>
          </a:p>
        </p:txBody>
      </p:sp>
      <p:pic>
        <p:nvPicPr>
          <p:cNvPr id="11" name="Inhaltsplatzhalter 10">
            <a:extLst>
              <a:ext uri="{FF2B5EF4-FFF2-40B4-BE49-F238E27FC236}">
                <a16:creationId xmlns:a16="http://schemas.microsoft.com/office/drawing/2014/main" id="{5DB780AD-D33B-3AD8-209A-942CB3D331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1302" y="1540617"/>
            <a:ext cx="2157067" cy="1265814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C3E170F-0CB5-FF49-B711-6C794A1D45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5826" y="1554949"/>
            <a:ext cx="2136163" cy="118729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DBAD5DF-D5BA-F91A-EC15-D94114CDFE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095" y="1465084"/>
            <a:ext cx="1381265" cy="1464013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24DB17C-B73A-E852-9583-5AABB46BB662}"/>
              </a:ext>
            </a:extLst>
          </p:cNvPr>
          <p:cNvSpPr txBox="1"/>
          <p:nvPr/>
        </p:nvSpPr>
        <p:spPr>
          <a:xfrm>
            <a:off x="3861819" y="2880605"/>
            <a:ext cx="8560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Object</a:t>
            </a:r>
            <a:r>
              <a:rPr lang="de-DE" dirty="0"/>
              <a:t> Mesh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40D61C4-4379-6E91-8E82-89BB7157A29F}"/>
                  </a:ext>
                </a:extLst>
              </p:cNvPr>
              <p:cNvSpPr txBox="1"/>
              <p:nvPr/>
            </p:nvSpPr>
            <p:spPr>
              <a:xfrm>
                <a:off x="1109764" y="3259474"/>
                <a:ext cx="1426596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</a:rPr>
                      <m:t>𝑻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 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𝑺𝑬</m:t>
                    </m:r>
                    <m:d>
                      <m:dPr>
                        <m:ctrl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𝟑</m:t>
                        </m:r>
                      </m:e>
                    </m:d>
                  </m:oMath>
                </a14:m>
                <a:r>
                  <a:rPr lang="en-GB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 ∈</m:t>
                      </m:r>
                      <m:sSup>
                        <m:sSupPr>
                          <m:ctrlP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GB" b="1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40D61C4-4379-6E91-8E82-89BB7157A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764" y="3259474"/>
                <a:ext cx="1426596" cy="669992"/>
              </a:xfrm>
              <a:prstGeom prst="rect">
                <a:avLst/>
              </a:prstGeom>
              <a:blipFill>
                <a:blip r:embed="rId5"/>
                <a:stretch>
                  <a:fillRect t="-545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5213E9E-A8BF-CCE1-969E-6F4EDD44AF94}"/>
                  </a:ext>
                </a:extLst>
              </p:cNvPr>
              <p:cNvSpPr txBox="1"/>
              <p:nvPr/>
            </p:nvSpPr>
            <p:spPr>
              <a:xfrm>
                <a:off x="2460289" y="1827759"/>
                <a:ext cx="8229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5213E9E-A8BF-CCE1-969E-6F4EDD44A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0289" y="1827759"/>
                <a:ext cx="82292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005F1B4A-6C74-982F-D1B1-726B00AE32F2}"/>
              </a:ext>
            </a:extLst>
          </p:cNvPr>
          <p:cNvSpPr txBox="1"/>
          <p:nvPr/>
        </p:nvSpPr>
        <p:spPr>
          <a:xfrm>
            <a:off x="1394950" y="292420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Grasp</a:t>
            </a:r>
            <a:endParaRPr lang="en-GB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F52962A-CFA7-15A3-9A76-E2A213D9F055}"/>
              </a:ext>
            </a:extLst>
          </p:cNvPr>
          <p:cNvSpPr/>
          <p:nvPr/>
        </p:nvSpPr>
        <p:spPr>
          <a:xfrm>
            <a:off x="901429" y="1102469"/>
            <a:ext cx="4728049" cy="2789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A8F888E-4962-E151-C007-7BD294E668B7}"/>
              </a:ext>
            </a:extLst>
          </p:cNvPr>
          <p:cNvSpPr txBox="1"/>
          <p:nvPr/>
        </p:nvSpPr>
        <p:spPr>
          <a:xfrm>
            <a:off x="4380581" y="1062090"/>
            <a:ext cx="12110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Given Data</a:t>
            </a:r>
            <a:endParaRPr lang="en-GB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AF699F8-B71F-9B15-2567-DA515B959365}"/>
              </a:ext>
            </a:extLst>
          </p:cNvPr>
          <p:cNvCxnSpPr>
            <a:cxnSpLocks/>
          </p:cNvCxnSpPr>
          <p:nvPr/>
        </p:nvCxnSpPr>
        <p:spPr>
          <a:xfrm>
            <a:off x="5681980" y="2074424"/>
            <a:ext cx="14367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85CA163D-A2CB-670C-7465-C8544C490193}"/>
              </a:ext>
            </a:extLst>
          </p:cNvPr>
          <p:cNvSpPr txBox="1"/>
          <p:nvPr/>
        </p:nvSpPr>
        <p:spPr>
          <a:xfrm>
            <a:off x="5625949" y="1744618"/>
            <a:ext cx="1485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Sample Point Cloud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8018209C-354E-7962-2D87-264FB7AA1BDB}"/>
                  </a:ext>
                </a:extLst>
              </p:cNvPr>
              <p:cNvSpPr txBox="1"/>
              <p:nvPr/>
            </p:nvSpPr>
            <p:spPr>
              <a:xfrm>
                <a:off x="9352196" y="1889758"/>
                <a:ext cx="8229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8018209C-354E-7962-2D87-264FB7AA1B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2196" y="1889758"/>
                <a:ext cx="822925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Grafik 20">
            <a:extLst>
              <a:ext uri="{FF2B5EF4-FFF2-40B4-BE49-F238E27FC236}">
                <a16:creationId xmlns:a16="http://schemas.microsoft.com/office/drawing/2014/main" id="{5DF8ED39-DDC8-DAC6-A01D-23A0EA7688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413" y="1416592"/>
            <a:ext cx="1381265" cy="1464013"/>
          </a:xfrm>
          <a:prstGeom prst="rect">
            <a:avLst/>
          </a:prstGeom>
        </p:spPr>
      </p:pic>
      <p:sp>
        <p:nvSpPr>
          <p:cNvPr id="22" name="Rechteck 21">
            <a:extLst>
              <a:ext uri="{FF2B5EF4-FFF2-40B4-BE49-F238E27FC236}">
                <a16:creationId xmlns:a16="http://schemas.microsoft.com/office/drawing/2014/main" id="{00B1E8E9-1F1B-9BAE-D7CD-F826A0F1B1D3}"/>
              </a:ext>
            </a:extLst>
          </p:cNvPr>
          <p:cNvSpPr/>
          <p:nvPr/>
        </p:nvSpPr>
        <p:spPr>
          <a:xfrm>
            <a:off x="7145392" y="1102468"/>
            <a:ext cx="4573195" cy="277819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7E28C296-825C-1D04-0B61-98215FBE3245}"/>
                  </a:ext>
                </a:extLst>
              </p:cNvPr>
              <p:cNvSpPr txBox="1"/>
              <p:nvPr/>
            </p:nvSpPr>
            <p:spPr>
              <a:xfrm>
                <a:off x="7566454" y="2806431"/>
                <a:ext cx="1594905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dirty="0"/>
                  <a:t>Point Cloud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×3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7E28C296-825C-1D04-0B61-98215FBE3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6454" y="2806431"/>
                <a:ext cx="1594905" cy="669992"/>
              </a:xfrm>
              <a:prstGeom prst="rect">
                <a:avLst/>
              </a:prstGeom>
              <a:blipFill>
                <a:blip r:embed="rId8"/>
                <a:stretch>
                  <a:fillRect t="-454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FB338D22-375A-CCBE-7E46-13BA6D3A17C8}"/>
                  </a:ext>
                </a:extLst>
              </p:cNvPr>
              <p:cNvSpPr txBox="1"/>
              <p:nvPr/>
            </p:nvSpPr>
            <p:spPr>
              <a:xfrm>
                <a:off x="10201537" y="3095757"/>
                <a:ext cx="1426596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</a:rPr>
                      <m:t>𝑻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 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𝑺𝑬</m:t>
                    </m:r>
                    <m:d>
                      <m:dPr>
                        <m:ctrl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𝟑</m:t>
                        </m:r>
                      </m:e>
                    </m:d>
                  </m:oMath>
                </a14:m>
                <a:r>
                  <a:rPr lang="en-GB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 ∈</m:t>
                      </m:r>
                      <m:sSup>
                        <m:sSupPr>
                          <m:ctrlP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GB" b="1" dirty="0"/>
              </a:p>
            </p:txBody>
          </p:sp>
        </mc:Choice>
        <mc:Fallback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FB338D22-375A-CCBE-7E46-13BA6D3A17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1537" y="3095757"/>
                <a:ext cx="1426596" cy="669992"/>
              </a:xfrm>
              <a:prstGeom prst="rect">
                <a:avLst/>
              </a:prstGeom>
              <a:blipFill>
                <a:blip r:embed="rId9"/>
                <a:stretch>
                  <a:fillRect t="-545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feld 24">
            <a:extLst>
              <a:ext uri="{FF2B5EF4-FFF2-40B4-BE49-F238E27FC236}">
                <a16:creationId xmlns:a16="http://schemas.microsoft.com/office/drawing/2014/main" id="{6BF96B91-2B34-D3F5-4DA8-C614134EA9C7}"/>
              </a:ext>
            </a:extLst>
          </p:cNvPr>
          <p:cNvSpPr txBox="1"/>
          <p:nvPr/>
        </p:nvSpPr>
        <p:spPr>
          <a:xfrm>
            <a:off x="10486818" y="2806431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Grasp</a:t>
            </a:r>
            <a:endParaRPr lang="en-GB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7BF83B91-AADC-88DA-07AA-63B4BC43244D}"/>
              </a:ext>
            </a:extLst>
          </p:cNvPr>
          <p:cNvSpPr txBox="1"/>
          <p:nvPr/>
        </p:nvSpPr>
        <p:spPr>
          <a:xfrm>
            <a:off x="10312899" y="1072186"/>
            <a:ext cx="1432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Training Data</a:t>
            </a:r>
            <a:endParaRPr lang="en-GB" dirty="0"/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65F8A20-0DA5-3A93-ACCA-802BA0993583}"/>
              </a:ext>
            </a:extLst>
          </p:cNvPr>
          <p:cNvCxnSpPr>
            <a:cxnSpLocks/>
            <a:stCxn id="22" idx="2"/>
          </p:cNvCxnSpPr>
          <p:nvPr/>
        </p:nvCxnSpPr>
        <p:spPr>
          <a:xfrm flipH="1">
            <a:off x="9431989" y="3880659"/>
            <a:ext cx="1" cy="3348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06F5751-0B78-2790-DA68-6538B08DE42C}"/>
              </a:ext>
            </a:extLst>
          </p:cNvPr>
          <p:cNvCxnSpPr>
            <a:cxnSpLocks/>
          </p:cNvCxnSpPr>
          <p:nvPr/>
        </p:nvCxnSpPr>
        <p:spPr>
          <a:xfrm flipH="1">
            <a:off x="3599917" y="4215468"/>
            <a:ext cx="58320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7065FEED-8269-B148-5512-3679A83D6D55}"/>
              </a:ext>
            </a:extLst>
          </p:cNvPr>
          <p:cNvCxnSpPr>
            <a:cxnSpLocks/>
          </p:cNvCxnSpPr>
          <p:nvPr/>
        </p:nvCxnSpPr>
        <p:spPr>
          <a:xfrm>
            <a:off x="3599917" y="4215468"/>
            <a:ext cx="0" cy="265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C1DB41A3-2E35-265D-A163-9CDA104244D0}"/>
              </a:ext>
            </a:extLst>
          </p:cNvPr>
          <p:cNvSpPr/>
          <p:nvPr/>
        </p:nvSpPr>
        <p:spPr>
          <a:xfrm>
            <a:off x="2605455" y="5033273"/>
            <a:ext cx="2127114" cy="82143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Diffusion Model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DA60E860-C645-22B2-5AAC-B6BBEDB0A651}"/>
              </a:ext>
            </a:extLst>
          </p:cNvPr>
          <p:cNvCxnSpPr>
            <a:cxnSpLocks/>
          </p:cNvCxnSpPr>
          <p:nvPr/>
        </p:nvCxnSpPr>
        <p:spPr>
          <a:xfrm>
            <a:off x="4801839" y="5423198"/>
            <a:ext cx="56653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8" name="Grafik 37">
            <a:extLst>
              <a:ext uri="{FF2B5EF4-FFF2-40B4-BE49-F238E27FC236}">
                <a16:creationId xmlns:a16="http://schemas.microsoft.com/office/drawing/2014/main" id="{AAC3E684-9CF5-6FC2-47DD-21590378F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572" y="4898102"/>
            <a:ext cx="990835" cy="1050193"/>
          </a:xfrm>
          <a:prstGeom prst="rect">
            <a:avLst/>
          </a:prstGeom>
        </p:spPr>
      </p:pic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0EFAF8CF-AF71-BC2C-36C7-1A2833EF557F}"/>
              </a:ext>
            </a:extLst>
          </p:cNvPr>
          <p:cNvCxnSpPr/>
          <p:nvPr/>
        </p:nvCxnSpPr>
        <p:spPr>
          <a:xfrm>
            <a:off x="2016303" y="5396605"/>
            <a:ext cx="4693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Grafik 45">
            <a:extLst>
              <a:ext uri="{FF2B5EF4-FFF2-40B4-BE49-F238E27FC236}">
                <a16:creationId xmlns:a16="http://schemas.microsoft.com/office/drawing/2014/main" id="{3F401409-F05D-E76F-42A9-2BC3DFC5B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872" y="4869804"/>
            <a:ext cx="2136163" cy="1187298"/>
          </a:xfrm>
          <a:prstGeom prst="rect">
            <a:avLst/>
          </a:prstGeom>
        </p:spPr>
      </p:pic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53A532FE-13D4-C55E-BE52-93D8D86CCFCD}"/>
              </a:ext>
            </a:extLst>
          </p:cNvPr>
          <p:cNvCxnSpPr/>
          <p:nvPr/>
        </p:nvCxnSpPr>
        <p:spPr>
          <a:xfrm>
            <a:off x="8242703" y="5471973"/>
            <a:ext cx="8495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9" name="Inhaltsplatzhalter 10">
            <a:extLst>
              <a:ext uri="{FF2B5EF4-FFF2-40B4-BE49-F238E27FC236}">
                <a16:creationId xmlns:a16="http://schemas.microsoft.com/office/drawing/2014/main" id="{95A10E97-E1CF-C9C6-A6EF-4C3BD6772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0681" y="4818028"/>
            <a:ext cx="2157067" cy="1265814"/>
          </a:xfrm>
          <a:prstGeom prst="rect">
            <a:avLst/>
          </a:prstGeom>
        </p:spPr>
      </p:pic>
      <p:sp>
        <p:nvSpPr>
          <p:cNvPr id="50" name="Rechteck 49">
            <a:extLst>
              <a:ext uri="{FF2B5EF4-FFF2-40B4-BE49-F238E27FC236}">
                <a16:creationId xmlns:a16="http://schemas.microsoft.com/office/drawing/2014/main" id="{00DA87A1-EC69-71D5-5A66-06CEBEE18B00}"/>
              </a:ext>
            </a:extLst>
          </p:cNvPr>
          <p:cNvSpPr/>
          <p:nvPr/>
        </p:nvSpPr>
        <p:spPr>
          <a:xfrm>
            <a:off x="729760" y="4545806"/>
            <a:ext cx="7166040" cy="17963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05E9FA7B-31FF-1BA5-524C-1856835F5098}"/>
              </a:ext>
            </a:extLst>
          </p:cNvPr>
          <p:cNvSpPr txBox="1"/>
          <p:nvPr/>
        </p:nvSpPr>
        <p:spPr>
          <a:xfrm>
            <a:off x="5604121" y="4480686"/>
            <a:ext cx="24274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Deep Learning Pipeline</a:t>
            </a:r>
            <a:endParaRPr lang="en-GB" dirty="0"/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24830282-5D30-2B82-1343-A4636FA8DF68}"/>
              </a:ext>
            </a:extLst>
          </p:cNvPr>
          <p:cNvSpPr txBox="1"/>
          <p:nvPr/>
        </p:nvSpPr>
        <p:spPr>
          <a:xfrm>
            <a:off x="7895800" y="5072061"/>
            <a:ext cx="16571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Postprocessing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26279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 animBg="1"/>
      <p:bldP spid="10" grpId="0"/>
      <p:bldP spid="17" grpId="0"/>
      <p:bldP spid="20" grpId="0"/>
      <p:bldP spid="22" grpId="0" animBg="1"/>
      <p:bldP spid="23" grpId="0"/>
      <p:bldP spid="24" grpId="0"/>
      <p:bldP spid="25" grpId="0"/>
      <p:bldP spid="26" grpId="0"/>
      <p:bldP spid="34" grpId="0" animBg="1"/>
      <p:bldP spid="50" grpId="0" animBg="1"/>
      <p:bldP spid="51" grpId="0"/>
      <p:bldP spid="5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475F22-1CD8-C3B7-9588-2D0C52F1F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2441"/>
          </a:xfrm>
        </p:spPr>
        <p:txBody>
          <a:bodyPr>
            <a:normAutofit/>
          </a:bodyPr>
          <a:lstStyle/>
          <a:p>
            <a:r>
              <a:rPr lang="de-DE" sz="3200" dirty="0"/>
              <a:t>Diffusion-Autoencoder</a:t>
            </a:r>
            <a:endParaRPr lang="en-GB" sz="3200" dirty="0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30D6EDF0-0A4E-DE1F-B365-F528D220E3B8}"/>
              </a:ext>
            </a:extLst>
          </p:cNvPr>
          <p:cNvSpPr/>
          <p:nvPr/>
        </p:nvSpPr>
        <p:spPr>
          <a:xfrm rot="5400000">
            <a:off x="1413558" y="1014068"/>
            <a:ext cx="843064" cy="1566153"/>
          </a:xfrm>
          <a:prstGeom prst="trapezoi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Pointnet</a:t>
            </a:r>
            <a:r>
              <a:rPr lang="de-DE" dirty="0">
                <a:solidFill>
                  <a:schemeClr val="tx1"/>
                </a:solidFill>
              </a:rPr>
              <a:t> Encoder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E749175-C9FE-752B-98E8-07BCE1A14A52}"/>
              </a:ext>
            </a:extLst>
          </p:cNvPr>
          <p:cNvCxnSpPr/>
          <p:nvPr/>
        </p:nvCxnSpPr>
        <p:spPr>
          <a:xfrm>
            <a:off x="2715443" y="1664199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F05B317-97CE-4698-87F6-441E2B96661D}"/>
                  </a:ext>
                </a:extLst>
              </p:cNvPr>
              <p:cNvSpPr txBox="1"/>
              <p:nvPr/>
            </p:nvSpPr>
            <p:spPr>
              <a:xfrm>
                <a:off x="3183584" y="1434442"/>
                <a:ext cx="86251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m:oMathPara>
                </a14:m>
                <a:endParaRPr lang="en-GB" b="1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F05B317-97CE-4698-87F6-441E2B966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3584" y="1434442"/>
                <a:ext cx="862519" cy="369332"/>
              </a:xfrm>
              <a:prstGeom prst="rect">
                <a:avLst/>
              </a:prstGeom>
              <a:blipFill>
                <a:blip r:embed="rId2"/>
                <a:stretch>
                  <a:fillRect b="-32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EF95E58-C492-7F5F-B5BA-D10BF8157B00}"/>
              </a:ext>
            </a:extLst>
          </p:cNvPr>
          <p:cNvCxnSpPr/>
          <p:nvPr/>
        </p:nvCxnSpPr>
        <p:spPr>
          <a:xfrm>
            <a:off x="2715443" y="1946301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F1DAE32-6E80-44DE-4596-4E4A7ECFE18E}"/>
                  </a:ext>
                </a:extLst>
              </p:cNvPr>
              <p:cNvSpPr txBox="1"/>
              <p:nvPr/>
            </p:nvSpPr>
            <p:spPr>
              <a:xfrm>
                <a:off x="3175885" y="1749117"/>
                <a:ext cx="862519" cy="37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p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GB" b="1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F1DAE32-6E80-44DE-4596-4E4A7ECFE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885" y="1749117"/>
                <a:ext cx="862519" cy="3755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281B240-EF8D-1E05-7CEC-0BB48855541B}"/>
              </a:ext>
            </a:extLst>
          </p:cNvPr>
          <p:cNvCxnSpPr>
            <a:cxnSpLocks/>
          </p:cNvCxnSpPr>
          <p:nvPr/>
        </p:nvCxnSpPr>
        <p:spPr>
          <a:xfrm>
            <a:off x="3843645" y="1755684"/>
            <a:ext cx="12321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73872BC2-0874-E3FD-EF08-7A163D5F9805}"/>
              </a:ext>
            </a:extLst>
          </p:cNvPr>
          <p:cNvSpPr txBox="1"/>
          <p:nvPr/>
        </p:nvSpPr>
        <p:spPr>
          <a:xfrm>
            <a:off x="3765824" y="1421765"/>
            <a:ext cx="127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Reparame-trization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4E6BF1BE-5F7D-B5E3-8E6E-0F37418731CA}"/>
                  </a:ext>
                </a:extLst>
              </p:cNvPr>
              <p:cNvSpPr txBox="1"/>
              <p:nvPr/>
            </p:nvSpPr>
            <p:spPr>
              <a:xfrm>
                <a:off x="4873156" y="1558589"/>
                <a:ext cx="86251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𝒛</m:t>
                      </m:r>
                    </m:oMath>
                  </m:oMathPara>
                </a14:m>
                <a:endParaRPr lang="en-GB" b="1" dirty="0"/>
              </a:p>
            </p:txBody>
          </p:sp>
        </mc:Choice>
        <mc:Fallback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4E6BF1BE-5F7D-B5E3-8E6E-0F3741873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3156" y="1558589"/>
                <a:ext cx="86251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B40EB3B-4F46-A644-E888-9BCC7EB40C3C}"/>
                  </a:ext>
                </a:extLst>
              </p:cNvPr>
              <p:cNvSpPr txBox="1"/>
              <p:nvPr/>
            </p:nvSpPr>
            <p:spPr>
              <a:xfrm>
                <a:off x="147645" y="5913515"/>
                <a:ext cx="3826680" cy="4297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𝑵</m:t>
                      </m:r>
                      <m:d>
                        <m:dPr>
                          <m:ctrlPr>
                            <a:rPr lang="de-DE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ad>
                            <m:radPr>
                              <m:degHide m:val="on"/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de-DE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𝜷</m:t>
                                  </m:r>
                                </m:e>
                                <m:sub>
                                  <m:r>
                                    <a:rPr lang="de-DE" b="1" i="1" smtClean="0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b>
                              </m:sSub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rad>
                          <m:sSub>
                            <m:sSubPr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b="1" dirty="0"/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B40EB3B-4F46-A644-E888-9BCC7EB40C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645" y="5913515"/>
                <a:ext cx="3826680" cy="429798"/>
              </a:xfrm>
              <a:prstGeom prst="rect">
                <a:avLst/>
              </a:prstGeom>
              <a:blipFill>
                <a:blip r:embed="rId5"/>
                <a:stretch>
                  <a:fillRect b="-84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A52A6C6-E766-5411-3593-5C90D5836C4B}"/>
              </a:ext>
            </a:extLst>
          </p:cNvPr>
          <p:cNvCxnSpPr>
            <a:cxnSpLocks/>
          </p:cNvCxnSpPr>
          <p:nvPr/>
        </p:nvCxnSpPr>
        <p:spPr>
          <a:xfrm flipV="1">
            <a:off x="5689062" y="1752349"/>
            <a:ext cx="1465635" cy="192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D6D1CD0-DDB8-B9D6-751E-C1550DDE3C8C}"/>
              </a:ext>
            </a:extLst>
          </p:cNvPr>
          <p:cNvCxnSpPr>
            <a:cxnSpLocks/>
          </p:cNvCxnSpPr>
          <p:nvPr/>
        </p:nvCxnSpPr>
        <p:spPr>
          <a:xfrm flipV="1">
            <a:off x="6650478" y="1827091"/>
            <a:ext cx="504219" cy="4426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rapezoid 22">
            <a:extLst>
              <a:ext uri="{FF2B5EF4-FFF2-40B4-BE49-F238E27FC236}">
                <a16:creationId xmlns:a16="http://schemas.microsoft.com/office/drawing/2014/main" id="{201543D6-2F1D-AE30-154E-ACD75C215E57}"/>
              </a:ext>
            </a:extLst>
          </p:cNvPr>
          <p:cNvSpPr/>
          <p:nvPr/>
        </p:nvSpPr>
        <p:spPr>
          <a:xfrm rot="16200000" flipH="1">
            <a:off x="7633782" y="988568"/>
            <a:ext cx="843064" cy="1566153"/>
          </a:xfrm>
          <a:prstGeom prst="trapezoi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Pointwise</a:t>
            </a:r>
            <a:r>
              <a:rPr lang="de-DE" dirty="0">
                <a:solidFill>
                  <a:schemeClr val="tx1"/>
                </a:solidFill>
              </a:rPr>
              <a:t> Decoder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17B6857-5ABC-3975-CE3A-9ACBDF68D420}"/>
              </a:ext>
            </a:extLst>
          </p:cNvPr>
          <p:cNvCxnSpPr/>
          <p:nvPr/>
        </p:nvCxnSpPr>
        <p:spPr>
          <a:xfrm>
            <a:off x="8871624" y="1739511"/>
            <a:ext cx="3826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B306E3EA-44DD-42CC-1DA0-DB7449AB768B}"/>
                  </a:ext>
                </a:extLst>
              </p:cNvPr>
              <p:cNvSpPr txBox="1"/>
              <p:nvPr/>
            </p:nvSpPr>
            <p:spPr>
              <a:xfrm>
                <a:off x="9195879" y="1562155"/>
                <a:ext cx="27367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𝑵</m:t>
                      </m:r>
                      <m:d>
                        <m:dPr>
                          <m:ctrlPr>
                            <a:rPr lang="de-DE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de-DE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sub>
                          </m:sSub>
                          <m:d>
                            <m:dPr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b="1" dirty="0"/>
              </a:p>
            </p:txBody>
          </p:sp>
        </mc:Choice>
        <mc:Fallback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B306E3EA-44DD-42CC-1DA0-DB7449AB7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5879" y="1562155"/>
                <a:ext cx="2736718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CFC01C4-993A-3B94-789D-592D37721FBF}"/>
              </a:ext>
            </a:extLst>
          </p:cNvPr>
          <p:cNvCxnSpPr>
            <a:cxnSpLocks/>
          </p:cNvCxnSpPr>
          <p:nvPr/>
        </p:nvCxnSpPr>
        <p:spPr>
          <a:xfrm>
            <a:off x="10369685" y="2574587"/>
            <a:ext cx="0" cy="73281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7768ADE4-0AEB-CE0C-7CBA-760B01C93441}"/>
              </a:ext>
            </a:extLst>
          </p:cNvPr>
          <p:cNvCxnSpPr>
            <a:cxnSpLocks/>
          </p:cNvCxnSpPr>
          <p:nvPr/>
        </p:nvCxnSpPr>
        <p:spPr>
          <a:xfrm flipH="1">
            <a:off x="2062264" y="3307404"/>
            <a:ext cx="830742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8B079-8388-A247-BB6B-F48BD348211E}"/>
              </a:ext>
            </a:extLst>
          </p:cNvPr>
          <p:cNvCxnSpPr/>
          <p:nvPr/>
        </p:nvCxnSpPr>
        <p:spPr>
          <a:xfrm>
            <a:off x="2062264" y="3307404"/>
            <a:ext cx="0" cy="674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8ECC9043-D07E-0BE8-954C-8A41D9EDE3CF}"/>
              </a:ext>
            </a:extLst>
          </p:cNvPr>
          <p:cNvSpPr txBox="1"/>
          <p:nvPr/>
        </p:nvSpPr>
        <p:spPr>
          <a:xfrm>
            <a:off x="5207540" y="3371226"/>
            <a:ext cx="1588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After T </a:t>
            </a:r>
            <a:r>
              <a:rPr lang="de-DE" dirty="0" err="1"/>
              <a:t>steps</a:t>
            </a:r>
            <a:endParaRPr lang="en-GB" dirty="0"/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9EFEC7EE-9A50-202D-701D-ABFD053894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904" y="4098006"/>
            <a:ext cx="2136163" cy="118729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0C4EFEBD-3352-E4BC-4FAB-0C5426AA74D5}"/>
                  </a:ext>
                </a:extLst>
              </p:cNvPr>
              <p:cNvSpPr txBox="1"/>
              <p:nvPr/>
            </p:nvSpPr>
            <p:spPr>
              <a:xfrm>
                <a:off x="6065198" y="2198041"/>
                <a:ext cx="9014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0C4EFEBD-3352-E4BC-4FAB-0C5426AA74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5198" y="2198041"/>
                <a:ext cx="90143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2FD2F53C-0218-2E60-BDFD-A96E5515B192}"/>
                  </a:ext>
                </a:extLst>
              </p:cNvPr>
              <p:cNvSpPr txBox="1"/>
              <p:nvPr/>
            </p:nvSpPr>
            <p:spPr>
              <a:xfrm>
                <a:off x="1243865" y="5350053"/>
                <a:ext cx="15317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×3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2FD2F53C-0218-2E60-BDFD-A96E5515B1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865" y="5350053"/>
                <a:ext cx="153176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63EBFCB0-4509-C591-724C-C33E02325ED3}"/>
                  </a:ext>
                </a:extLst>
              </p:cNvPr>
              <p:cNvSpPr txBox="1"/>
              <p:nvPr/>
            </p:nvSpPr>
            <p:spPr>
              <a:xfrm>
                <a:off x="5689062" y="2506136"/>
                <a:ext cx="165370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d>
                        <m:dPr>
                          <m:begChr m:val="{"/>
                          <m:endChr m:val="}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 2, 3, …,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63EBFCB0-4509-C591-724C-C33E02325E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062" y="2506136"/>
                <a:ext cx="1653701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chteck 43">
            <a:extLst>
              <a:ext uri="{FF2B5EF4-FFF2-40B4-BE49-F238E27FC236}">
                <a16:creationId xmlns:a16="http://schemas.microsoft.com/office/drawing/2014/main" id="{0BE26D25-E0B8-7023-450A-226A874A6C95}"/>
              </a:ext>
            </a:extLst>
          </p:cNvPr>
          <p:cNvSpPr/>
          <p:nvPr/>
        </p:nvSpPr>
        <p:spPr>
          <a:xfrm>
            <a:off x="330740" y="1037617"/>
            <a:ext cx="11601856" cy="47730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B6342753-E6F9-CBCB-21A5-CA78B6AA3AD0}"/>
              </a:ext>
            </a:extLst>
          </p:cNvPr>
          <p:cNvSpPr txBox="1"/>
          <p:nvPr/>
        </p:nvSpPr>
        <p:spPr>
          <a:xfrm>
            <a:off x="10453992" y="5382868"/>
            <a:ext cx="153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Autoencoder</a:t>
            </a:r>
            <a:endParaRPr lang="en-GB" dirty="0"/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CF3EAAA0-E6EA-2D55-3949-6400F671C029}"/>
              </a:ext>
            </a:extLst>
          </p:cNvPr>
          <p:cNvSpPr txBox="1"/>
          <p:nvPr/>
        </p:nvSpPr>
        <p:spPr>
          <a:xfrm>
            <a:off x="56277" y="6332705"/>
            <a:ext cx="4344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Can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forward</a:t>
            </a:r>
            <a:r>
              <a:rPr lang="de-DE" dirty="0"/>
              <a:t> Markov Chain</a:t>
            </a:r>
            <a:endParaRPr lang="en-GB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1AC002D9-17DD-665B-D93B-D44CEBEC7B0D}"/>
              </a:ext>
            </a:extLst>
          </p:cNvPr>
          <p:cNvSpPr txBox="1"/>
          <p:nvPr/>
        </p:nvSpPr>
        <p:spPr>
          <a:xfrm>
            <a:off x="8983496" y="1963919"/>
            <a:ext cx="2678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Model </a:t>
            </a:r>
            <a:r>
              <a:rPr lang="de-DE" dirty="0" err="1"/>
              <a:t>learns</a:t>
            </a:r>
            <a:r>
              <a:rPr lang="de-DE" dirty="0"/>
              <a:t> reverse Markov Chain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DEDAD7D8-B806-DA31-8869-FE6894ECE605}"/>
                  </a:ext>
                </a:extLst>
              </p:cNvPr>
              <p:cNvSpPr txBox="1"/>
              <p:nvPr/>
            </p:nvSpPr>
            <p:spPr>
              <a:xfrm>
                <a:off x="3877492" y="1835076"/>
                <a:ext cx="36032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l-G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𝚽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DEDAD7D8-B806-DA31-8869-FE6894ECE6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492" y="1835076"/>
                <a:ext cx="3603289" cy="369332"/>
              </a:xfrm>
              <a:prstGeom prst="rect">
                <a:avLst/>
              </a:prstGeom>
              <a:blipFill>
                <a:blip r:embed="rId1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feld 53">
                <a:extLst>
                  <a:ext uri="{FF2B5EF4-FFF2-40B4-BE49-F238E27FC236}">
                    <a16:creationId xmlns:a16="http://schemas.microsoft.com/office/drawing/2014/main" id="{AC1D1414-E492-B60A-E210-8F4010237005}"/>
                  </a:ext>
                </a:extLst>
              </p:cNvPr>
              <p:cNvSpPr txBox="1"/>
              <p:nvPr/>
            </p:nvSpPr>
            <p:spPr>
              <a:xfrm>
                <a:off x="308856" y="1642425"/>
                <a:ext cx="4724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54" name="Textfeld 53">
                <a:extLst>
                  <a:ext uri="{FF2B5EF4-FFF2-40B4-BE49-F238E27FC236}">
                    <a16:creationId xmlns:a16="http://schemas.microsoft.com/office/drawing/2014/main" id="{AC1D1414-E492-B60A-E210-8F40102370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6" y="1642425"/>
                <a:ext cx="47240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8B45606-1610-2084-0D6F-48229724BFF4}"/>
              </a:ext>
            </a:extLst>
          </p:cNvPr>
          <p:cNvCxnSpPr>
            <a:cxnSpLocks/>
          </p:cNvCxnSpPr>
          <p:nvPr/>
        </p:nvCxnSpPr>
        <p:spPr>
          <a:xfrm>
            <a:off x="732379" y="1827091"/>
            <a:ext cx="2116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99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  <p:bldP spid="11" grpId="0"/>
      <p:bldP spid="14" grpId="0"/>
      <p:bldP spid="16" grpId="0"/>
      <p:bldP spid="17" grpId="0"/>
      <p:bldP spid="23" grpId="0" animBg="1"/>
      <p:bldP spid="30" grpId="0"/>
      <p:bldP spid="37" grpId="0"/>
      <p:bldP spid="40" grpId="0"/>
      <p:bldP spid="41" grpId="0"/>
      <p:bldP spid="42" grpId="0"/>
      <p:bldP spid="44" grpId="0" animBg="1"/>
      <p:bldP spid="45" grpId="0"/>
      <p:bldP spid="46" grpId="0"/>
      <p:bldP spid="48" grpId="0"/>
      <p:bldP spid="49" grpId="0"/>
      <p:bldP spid="5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27B83F-3A7F-1BB9-AB31-AC7A19A5F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91301"/>
          </a:xfrm>
        </p:spPr>
        <p:txBody>
          <a:bodyPr>
            <a:normAutofit/>
          </a:bodyPr>
          <a:lstStyle/>
          <a:p>
            <a:r>
              <a:rPr lang="de-DE" sz="3200" dirty="0"/>
              <a:t>Autoencoder </a:t>
            </a:r>
            <a:r>
              <a:rPr lang="de-DE" sz="3200" dirty="0" err="1"/>
              <a:t>Predicted</a:t>
            </a:r>
            <a:r>
              <a:rPr lang="de-DE" sz="3200" dirty="0"/>
              <a:t> Point Clouds 256 Points end-</a:t>
            </a:r>
            <a:r>
              <a:rPr lang="de-DE" sz="3200" dirty="0" err="1"/>
              <a:t>to</a:t>
            </a:r>
            <a:r>
              <a:rPr lang="de-DE" sz="3200" dirty="0"/>
              <a:t>-end</a:t>
            </a:r>
            <a:endParaRPr lang="en-GB" sz="32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72698CD-138F-935F-9F3F-3E41D15325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459" y="1326596"/>
            <a:ext cx="10201074" cy="531970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6F020AB-52B1-A29E-0867-8AF39F884500}"/>
              </a:ext>
            </a:extLst>
          </p:cNvPr>
          <p:cNvSpPr txBox="1"/>
          <p:nvPr/>
        </p:nvSpPr>
        <p:spPr>
          <a:xfrm>
            <a:off x="2418946" y="5278876"/>
            <a:ext cx="1018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0.0248</a:t>
            </a:r>
            <a:endParaRPr lang="en-GB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F5446EF-3903-A382-7FAF-4929FAE90F29}"/>
              </a:ext>
            </a:extLst>
          </p:cNvPr>
          <p:cNvSpPr txBox="1"/>
          <p:nvPr/>
        </p:nvSpPr>
        <p:spPr>
          <a:xfrm>
            <a:off x="5736077" y="5278876"/>
            <a:ext cx="1018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0.02</a:t>
            </a:r>
            <a:endParaRPr lang="en-GB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4ACD740-DFE9-B1E3-74F9-2530620FCE99}"/>
              </a:ext>
            </a:extLst>
          </p:cNvPr>
          <p:cNvSpPr txBox="1"/>
          <p:nvPr/>
        </p:nvSpPr>
        <p:spPr>
          <a:xfrm>
            <a:off x="9007812" y="5278876"/>
            <a:ext cx="1018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0.0168</a:t>
            </a:r>
            <a:endParaRPr lang="en-GB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E67E8F1-C7F2-6307-C47E-8E0454574088}"/>
              </a:ext>
            </a:extLst>
          </p:cNvPr>
          <p:cNvSpPr/>
          <p:nvPr/>
        </p:nvSpPr>
        <p:spPr>
          <a:xfrm>
            <a:off x="5389123" y="1348902"/>
            <a:ext cx="1284051" cy="42801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B172027-EB9C-BF2E-EFC8-AF2432DC7580}"/>
              </a:ext>
            </a:extLst>
          </p:cNvPr>
          <p:cNvSpPr/>
          <p:nvPr/>
        </p:nvSpPr>
        <p:spPr>
          <a:xfrm>
            <a:off x="2418946" y="2013626"/>
            <a:ext cx="1284051" cy="42801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5B6BCFC-E1B6-0D62-8BD5-AFEC28B778F2}"/>
              </a:ext>
            </a:extLst>
          </p:cNvPr>
          <p:cNvSpPr/>
          <p:nvPr/>
        </p:nvSpPr>
        <p:spPr>
          <a:xfrm>
            <a:off x="5346970" y="2013626"/>
            <a:ext cx="1284051" cy="42801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BD33062-0341-30C6-9EBB-C1A955712FDA}"/>
              </a:ext>
            </a:extLst>
          </p:cNvPr>
          <p:cNvSpPr/>
          <p:nvPr/>
        </p:nvSpPr>
        <p:spPr>
          <a:xfrm>
            <a:off x="8274994" y="2013626"/>
            <a:ext cx="1284051" cy="42801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A4A82E6-0AFC-6C03-C35A-608DCF9819CD}"/>
              </a:ext>
            </a:extLst>
          </p:cNvPr>
          <p:cNvSpPr txBox="1"/>
          <p:nvPr/>
        </p:nvSpPr>
        <p:spPr>
          <a:xfrm>
            <a:off x="2384898" y="2013626"/>
            <a:ext cx="1426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1</a:t>
            </a:r>
            <a:endParaRPr lang="en-GB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C2BEE21-85A5-FD9E-3DDA-45509B8848FD}"/>
              </a:ext>
            </a:extLst>
          </p:cNvPr>
          <p:cNvSpPr txBox="1"/>
          <p:nvPr/>
        </p:nvSpPr>
        <p:spPr>
          <a:xfrm>
            <a:off x="5531796" y="2013626"/>
            <a:ext cx="1426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2</a:t>
            </a:r>
            <a:endParaRPr lang="en-GB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B53BDFE4-731C-24F4-B86D-37D7790A3C35}"/>
              </a:ext>
            </a:extLst>
          </p:cNvPr>
          <p:cNvSpPr txBox="1"/>
          <p:nvPr/>
        </p:nvSpPr>
        <p:spPr>
          <a:xfrm>
            <a:off x="8615461" y="2023354"/>
            <a:ext cx="1426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3</a:t>
            </a:r>
            <a:endParaRPr lang="en-GB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04823A2-583D-10DC-2A97-7E7E7C532B1C}"/>
              </a:ext>
            </a:extLst>
          </p:cNvPr>
          <p:cNvSpPr txBox="1"/>
          <p:nvPr/>
        </p:nvSpPr>
        <p:spPr>
          <a:xfrm>
            <a:off x="979252" y="5140376"/>
            <a:ext cx="13489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Chamfer</a:t>
            </a:r>
            <a:r>
              <a:rPr lang="de-DE" dirty="0"/>
              <a:t> </a:t>
            </a:r>
            <a:r>
              <a:rPr lang="de-DE" dirty="0" err="1"/>
              <a:t>Distance</a:t>
            </a:r>
            <a:endParaRPr lang="en-GB" dirty="0"/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8B8417F2-1B40-F85E-4D6F-0D2907F3C6A4}"/>
              </a:ext>
            </a:extLst>
          </p:cNvPr>
          <p:cNvGrpSpPr/>
          <p:nvPr/>
        </p:nvGrpSpPr>
        <p:grpSpPr>
          <a:xfrm>
            <a:off x="5110262" y="1242218"/>
            <a:ext cx="1841771" cy="705095"/>
            <a:chOff x="4857345" y="1378244"/>
            <a:chExt cx="1841771" cy="70509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4CA5F389-1B50-8517-ED68-4BB234DA49F6}"/>
                </a:ext>
              </a:extLst>
            </p:cNvPr>
            <p:cNvSpPr/>
            <p:nvPr/>
          </p:nvSpPr>
          <p:spPr>
            <a:xfrm>
              <a:off x="4857345" y="1508629"/>
              <a:ext cx="155642" cy="154800"/>
            </a:xfrm>
            <a:prstGeom prst="ellips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C9DA55B3-CE5E-C6F8-22C7-5DDC7B94FC0C}"/>
                </a:ext>
              </a:extLst>
            </p:cNvPr>
            <p:cNvSpPr/>
            <p:nvPr/>
          </p:nvSpPr>
          <p:spPr>
            <a:xfrm>
              <a:off x="4857345" y="1856423"/>
              <a:ext cx="155642" cy="154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8DA6FE45-F3AE-1062-948F-2152026B98BE}"/>
                </a:ext>
              </a:extLst>
            </p:cNvPr>
            <p:cNvSpPr txBox="1"/>
            <p:nvPr/>
          </p:nvSpPr>
          <p:spPr>
            <a:xfrm>
              <a:off x="5097294" y="1378244"/>
              <a:ext cx="16018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 err="1"/>
                <a:t>predicted</a:t>
              </a:r>
              <a:endParaRPr lang="en-GB" dirty="0"/>
            </a:p>
          </p:txBody>
        </p: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C1063690-67DF-B6DE-13AD-4046745D09C1}"/>
                </a:ext>
              </a:extLst>
            </p:cNvPr>
            <p:cNvSpPr txBox="1"/>
            <p:nvPr/>
          </p:nvSpPr>
          <p:spPr>
            <a:xfrm>
              <a:off x="5097294" y="1714007"/>
              <a:ext cx="16018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 err="1"/>
                <a:t>target</a:t>
              </a:r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198700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AE6181-8596-69DB-21FE-53144A102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9471"/>
          </a:xfrm>
        </p:spPr>
        <p:txBody>
          <a:bodyPr>
            <a:normAutofit/>
          </a:bodyPr>
          <a:lstStyle/>
          <a:p>
            <a:r>
              <a:rPr lang="de-DE" sz="3200" dirty="0"/>
              <a:t>Autoencoder </a:t>
            </a:r>
            <a:r>
              <a:rPr lang="de-DE" sz="3200" dirty="0" err="1"/>
              <a:t>Predicted</a:t>
            </a:r>
            <a:r>
              <a:rPr lang="de-DE" sz="3200" dirty="0"/>
              <a:t> Point Clouds 2048 Points end-</a:t>
            </a:r>
            <a:r>
              <a:rPr lang="de-DE" sz="3200" dirty="0" err="1"/>
              <a:t>to</a:t>
            </a:r>
            <a:r>
              <a:rPr lang="de-DE" sz="3200" dirty="0"/>
              <a:t>-end</a:t>
            </a:r>
            <a:endParaRPr lang="en-GB" sz="32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3D3486F-681B-0A45-CC62-42E3B5C63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1083011"/>
            <a:ext cx="10515599" cy="548372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5EE6481-975B-57DE-1C01-4D9566A81FEE}"/>
              </a:ext>
            </a:extLst>
          </p:cNvPr>
          <p:cNvSpPr txBox="1"/>
          <p:nvPr/>
        </p:nvSpPr>
        <p:spPr>
          <a:xfrm>
            <a:off x="2438400" y="5123234"/>
            <a:ext cx="8690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0.0141</a:t>
            </a:r>
            <a:endParaRPr lang="en-GB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F3A2DE3-E962-2100-D01E-A41405A41DA7}"/>
              </a:ext>
            </a:extLst>
          </p:cNvPr>
          <p:cNvSpPr txBox="1"/>
          <p:nvPr/>
        </p:nvSpPr>
        <p:spPr>
          <a:xfrm>
            <a:off x="5729592" y="5123234"/>
            <a:ext cx="1112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0.0116</a:t>
            </a:r>
            <a:endParaRPr lang="en-GB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D9A7807-4DC5-0A8E-EF37-8575C3D45BB3}"/>
              </a:ext>
            </a:extLst>
          </p:cNvPr>
          <p:cNvSpPr txBox="1"/>
          <p:nvPr/>
        </p:nvSpPr>
        <p:spPr>
          <a:xfrm>
            <a:off x="9197502" y="5123234"/>
            <a:ext cx="1112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0.0088</a:t>
            </a:r>
            <a:endParaRPr lang="en-GB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84776D1-FE44-5B57-151E-5B25EAF736A9}"/>
              </a:ext>
            </a:extLst>
          </p:cNvPr>
          <p:cNvSpPr/>
          <p:nvPr/>
        </p:nvSpPr>
        <p:spPr>
          <a:xfrm>
            <a:off x="5252936" y="1083011"/>
            <a:ext cx="1679643" cy="4409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979630-7D2C-CB68-33DD-538ED456FEF2}"/>
              </a:ext>
            </a:extLst>
          </p:cNvPr>
          <p:cNvSpPr/>
          <p:nvPr/>
        </p:nvSpPr>
        <p:spPr>
          <a:xfrm>
            <a:off x="2286000" y="1734766"/>
            <a:ext cx="1679643" cy="4409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AE47AB4-F189-EA9D-A4F9-38AF5CF7B229}"/>
              </a:ext>
            </a:extLst>
          </p:cNvPr>
          <p:cNvSpPr/>
          <p:nvPr/>
        </p:nvSpPr>
        <p:spPr>
          <a:xfrm>
            <a:off x="5032443" y="1840588"/>
            <a:ext cx="1679643" cy="4409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F16F51B-DA3A-2E0A-F37E-950BDA398A12}"/>
              </a:ext>
            </a:extLst>
          </p:cNvPr>
          <p:cNvSpPr/>
          <p:nvPr/>
        </p:nvSpPr>
        <p:spPr>
          <a:xfrm>
            <a:off x="8159885" y="1843832"/>
            <a:ext cx="1679643" cy="4409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3A22D17-2289-93A3-D47A-641738CC95D8}"/>
              </a:ext>
            </a:extLst>
          </p:cNvPr>
          <p:cNvSpPr txBox="1"/>
          <p:nvPr/>
        </p:nvSpPr>
        <p:spPr>
          <a:xfrm>
            <a:off x="2542162" y="2055826"/>
            <a:ext cx="1690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1</a:t>
            </a:r>
            <a:endParaRPr lang="en-GB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91E7616-7B06-77FB-F51C-158153B7E1B9}"/>
              </a:ext>
            </a:extLst>
          </p:cNvPr>
          <p:cNvSpPr txBox="1"/>
          <p:nvPr/>
        </p:nvSpPr>
        <p:spPr>
          <a:xfrm>
            <a:off x="5587324" y="2064326"/>
            <a:ext cx="121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2</a:t>
            </a:r>
            <a:endParaRPr lang="en-GB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9DE95C9-48A8-C25A-64DC-FC59B4C5EFE2}"/>
              </a:ext>
            </a:extLst>
          </p:cNvPr>
          <p:cNvSpPr txBox="1"/>
          <p:nvPr/>
        </p:nvSpPr>
        <p:spPr>
          <a:xfrm>
            <a:off x="8769076" y="2064326"/>
            <a:ext cx="121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3</a:t>
            </a:r>
            <a:endParaRPr lang="en-GB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C1C0D5C-C9F1-47A7-D5A5-DBA61E0668B6}"/>
              </a:ext>
            </a:extLst>
          </p:cNvPr>
          <p:cNvSpPr txBox="1"/>
          <p:nvPr/>
        </p:nvSpPr>
        <p:spPr>
          <a:xfrm>
            <a:off x="938720" y="5025956"/>
            <a:ext cx="11121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Chamfer</a:t>
            </a:r>
            <a:r>
              <a:rPr lang="de-DE" dirty="0"/>
              <a:t> </a:t>
            </a:r>
            <a:r>
              <a:rPr lang="de-DE" dirty="0" err="1"/>
              <a:t>Distance</a:t>
            </a:r>
            <a:endParaRPr lang="en-GB" dirty="0"/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5BDDA963-8092-B85A-940A-64A105F82E32}"/>
              </a:ext>
            </a:extLst>
          </p:cNvPr>
          <p:cNvGrpSpPr/>
          <p:nvPr/>
        </p:nvGrpSpPr>
        <p:grpSpPr>
          <a:xfrm>
            <a:off x="5319812" y="1228636"/>
            <a:ext cx="1841771" cy="705095"/>
            <a:chOff x="4857345" y="1378244"/>
            <a:chExt cx="1841771" cy="70509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A48AB621-F270-E70F-1E1E-C200714C7918}"/>
                </a:ext>
              </a:extLst>
            </p:cNvPr>
            <p:cNvSpPr/>
            <p:nvPr/>
          </p:nvSpPr>
          <p:spPr>
            <a:xfrm>
              <a:off x="4857345" y="1508629"/>
              <a:ext cx="155642" cy="154800"/>
            </a:xfrm>
            <a:prstGeom prst="ellips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69DE81CE-7476-EDDF-1C8E-4DFBAFF6CD1B}"/>
                </a:ext>
              </a:extLst>
            </p:cNvPr>
            <p:cNvSpPr/>
            <p:nvPr/>
          </p:nvSpPr>
          <p:spPr>
            <a:xfrm>
              <a:off x="4857345" y="1856423"/>
              <a:ext cx="155642" cy="154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74C2FFF4-F737-2F06-79A8-2452454CBAC4}"/>
                </a:ext>
              </a:extLst>
            </p:cNvPr>
            <p:cNvSpPr txBox="1"/>
            <p:nvPr/>
          </p:nvSpPr>
          <p:spPr>
            <a:xfrm>
              <a:off x="5097294" y="1378244"/>
              <a:ext cx="16018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 err="1"/>
                <a:t>predicted</a:t>
              </a:r>
              <a:endParaRPr lang="en-GB" dirty="0"/>
            </a:p>
          </p:txBody>
        </p: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565E074F-155F-1458-AAA5-4655CFA3D4C7}"/>
                </a:ext>
              </a:extLst>
            </p:cNvPr>
            <p:cNvSpPr txBox="1"/>
            <p:nvPr/>
          </p:nvSpPr>
          <p:spPr>
            <a:xfrm>
              <a:off x="5097294" y="1714007"/>
              <a:ext cx="16018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 err="1"/>
                <a:t>target</a:t>
              </a:r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292054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D2A6D9-08E1-2A47-0C20-710A66549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9718"/>
          </a:xfrm>
        </p:spPr>
        <p:txBody>
          <a:bodyPr>
            <a:normAutofit/>
          </a:bodyPr>
          <a:lstStyle/>
          <a:p>
            <a:r>
              <a:rPr lang="de-DE" sz="3200" dirty="0"/>
              <a:t>Autoencoder </a:t>
            </a:r>
            <a:r>
              <a:rPr lang="de-DE" sz="3200" dirty="0" err="1"/>
              <a:t>with</a:t>
            </a:r>
            <a:r>
              <a:rPr lang="de-DE" sz="3200" dirty="0"/>
              <a:t> </a:t>
            </a:r>
            <a:r>
              <a:rPr lang="de-DE" sz="3200" dirty="0" err="1"/>
              <a:t>Pretrained</a:t>
            </a:r>
            <a:r>
              <a:rPr lang="de-DE" sz="3200" dirty="0"/>
              <a:t> Encoder</a:t>
            </a:r>
            <a:endParaRPr lang="en-GB" sz="32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C90271F-FF5D-6B9A-0724-71AD5248AD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748" y="1132841"/>
            <a:ext cx="10586851" cy="552087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84571BF0-8952-64FE-AD56-A8983E3DD84D}"/>
              </a:ext>
            </a:extLst>
          </p:cNvPr>
          <p:cNvSpPr txBox="1"/>
          <p:nvPr/>
        </p:nvSpPr>
        <p:spPr>
          <a:xfrm>
            <a:off x="2029838" y="5123234"/>
            <a:ext cx="9727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0.0056</a:t>
            </a:r>
            <a:endParaRPr lang="en-GB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F8605F8-06DF-89E1-4EA5-6A99D02822FE}"/>
              </a:ext>
            </a:extLst>
          </p:cNvPr>
          <p:cNvSpPr txBox="1"/>
          <p:nvPr/>
        </p:nvSpPr>
        <p:spPr>
          <a:xfrm>
            <a:off x="5476672" y="5123234"/>
            <a:ext cx="9727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0.0039</a:t>
            </a:r>
            <a:endParaRPr lang="en-GB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A38B34C-68A8-5DF7-C69F-C104860350B4}"/>
              </a:ext>
            </a:extLst>
          </p:cNvPr>
          <p:cNvSpPr txBox="1"/>
          <p:nvPr/>
        </p:nvSpPr>
        <p:spPr>
          <a:xfrm>
            <a:off x="8994843" y="5123234"/>
            <a:ext cx="9727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0.0050</a:t>
            </a:r>
            <a:endParaRPr lang="en-GB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B695DBA-720A-697F-385C-30A7296E0BE5}"/>
              </a:ext>
            </a:extLst>
          </p:cNvPr>
          <p:cNvSpPr/>
          <p:nvPr/>
        </p:nvSpPr>
        <p:spPr>
          <a:xfrm>
            <a:off x="2237362" y="1880681"/>
            <a:ext cx="765242" cy="291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464746F-E237-B754-3D58-548CD0F8127C}"/>
              </a:ext>
            </a:extLst>
          </p:cNvPr>
          <p:cNvSpPr/>
          <p:nvPr/>
        </p:nvSpPr>
        <p:spPr>
          <a:xfrm>
            <a:off x="5455552" y="1994171"/>
            <a:ext cx="765242" cy="291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5D5BCE2-8341-4E18-94C4-71E600DEA5F7}"/>
              </a:ext>
            </a:extLst>
          </p:cNvPr>
          <p:cNvSpPr/>
          <p:nvPr/>
        </p:nvSpPr>
        <p:spPr>
          <a:xfrm>
            <a:off x="8764533" y="1964989"/>
            <a:ext cx="765242" cy="291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FD5E411-33DD-2DF3-AE05-F71A37D98B53}"/>
              </a:ext>
            </a:extLst>
          </p:cNvPr>
          <p:cNvSpPr txBox="1"/>
          <p:nvPr/>
        </p:nvSpPr>
        <p:spPr>
          <a:xfrm>
            <a:off x="2309485" y="2101335"/>
            <a:ext cx="1284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1</a:t>
            </a:r>
            <a:endParaRPr lang="en-GB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47BD57A-36FC-3021-6AA3-A1F5709AC3A5}"/>
              </a:ext>
            </a:extLst>
          </p:cNvPr>
          <p:cNvSpPr txBox="1"/>
          <p:nvPr/>
        </p:nvSpPr>
        <p:spPr>
          <a:xfrm>
            <a:off x="5358274" y="2101335"/>
            <a:ext cx="1284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2</a:t>
            </a:r>
            <a:endParaRPr lang="en-GB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7C6E2F7-D963-7424-C0F3-75C0D5430625}"/>
              </a:ext>
            </a:extLst>
          </p:cNvPr>
          <p:cNvSpPr txBox="1"/>
          <p:nvPr/>
        </p:nvSpPr>
        <p:spPr>
          <a:xfrm>
            <a:off x="8407063" y="2101335"/>
            <a:ext cx="1284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3</a:t>
            </a:r>
            <a:endParaRPr lang="en-GB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F2D6FE8-A3A6-536D-9141-C39EEEC55D8C}"/>
              </a:ext>
            </a:extLst>
          </p:cNvPr>
          <p:cNvSpPr/>
          <p:nvPr/>
        </p:nvSpPr>
        <p:spPr>
          <a:xfrm>
            <a:off x="5168630" y="1167319"/>
            <a:ext cx="1473696" cy="4539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DBEE948-F5D7-30A5-72C2-A8A2CB1A532A}"/>
              </a:ext>
            </a:extLst>
          </p:cNvPr>
          <p:cNvSpPr txBox="1"/>
          <p:nvPr/>
        </p:nvSpPr>
        <p:spPr>
          <a:xfrm>
            <a:off x="617792" y="4984734"/>
            <a:ext cx="14120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Chamfer</a:t>
            </a:r>
            <a:endParaRPr lang="de-DE" dirty="0"/>
          </a:p>
          <a:p>
            <a:r>
              <a:rPr lang="de-DE" dirty="0" err="1"/>
              <a:t>Distance</a:t>
            </a:r>
            <a:endParaRPr lang="en-GB" dirty="0"/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B29409FF-503F-9DDF-BD1A-FF3750ADF0BC}"/>
              </a:ext>
            </a:extLst>
          </p:cNvPr>
          <p:cNvGrpSpPr/>
          <p:nvPr/>
        </p:nvGrpSpPr>
        <p:grpSpPr>
          <a:xfrm>
            <a:off x="5168630" y="1208744"/>
            <a:ext cx="1841771" cy="705095"/>
            <a:chOff x="4857345" y="1378244"/>
            <a:chExt cx="1841771" cy="70509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03FCC259-B2F8-9ED5-69F2-0BFA9B569BCB}"/>
                </a:ext>
              </a:extLst>
            </p:cNvPr>
            <p:cNvSpPr/>
            <p:nvPr/>
          </p:nvSpPr>
          <p:spPr>
            <a:xfrm>
              <a:off x="4857345" y="1508629"/>
              <a:ext cx="155642" cy="154800"/>
            </a:xfrm>
            <a:prstGeom prst="ellips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DF5C199C-450B-C6F9-F9E8-A2A1F084B29D}"/>
                </a:ext>
              </a:extLst>
            </p:cNvPr>
            <p:cNvSpPr/>
            <p:nvPr/>
          </p:nvSpPr>
          <p:spPr>
            <a:xfrm>
              <a:off x="4857345" y="1856423"/>
              <a:ext cx="155642" cy="154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91D2E0EA-42B0-1B97-51C4-45C0E7928B92}"/>
                </a:ext>
              </a:extLst>
            </p:cNvPr>
            <p:cNvSpPr txBox="1"/>
            <p:nvPr/>
          </p:nvSpPr>
          <p:spPr>
            <a:xfrm>
              <a:off x="5097294" y="1378244"/>
              <a:ext cx="16018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 err="1"/>
                <a:t>predicted</a:t>
              </a:r>
              <a:endParaRPr lang="en-GB" dirty="0"/>
            </a:p>
          </p:txBody>
        </p: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C5B6323C-4F4B-0C51-4BDD-79B0ABECE35C}"/>
                </a:ext>
              </a:extLst>
            </p:cNvPr>
            <p:cNvSpPr txBox="1"/>
            <p:nvPr/>
          </p:nvSpPr>
          <p:spPr>
            <a:xfrm>
              <a:off x="5097294" y="1714007"/>
              <a:ext cx="16018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 err="1"/>
                <a:t>target</a:t>
              </a:r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016277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3F4163-59C1-90BC-B00B-A72B15E85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3232"/>
          </a:xfrm>
        </p:spPr>
        <p:txBody>
          <a:bodyPr>
            <a:normAutofit/>
          </a:bodyPr>
          <a:lstStyle/>
          <a:p>
            <a:r>
              <a:rPr lang="de-DE" sz="3200" dirty="0"/>
              <a:t>VAE Architecture</a:t>
            </a:r>
            <a:endParaRPr lang="en-GB" sz="3200" dirty="0"/>
          </a:p>
        </p:txBody>
      </p:sp>
      <p:sp>
        <p:nvSpPr>
          <p:cNvPr id="4" name="Trapezoid 3">
            <a:extLst>
              <a:ext uri="{FF2B5EF4-FFF2-40B4-BE49-F238E27FC236}">
                <a16:creationId xmlns:a16="http://schemas.microsoft.com/office/drawing/2014/main" id="{274CD2DE-67E9-CF97-DD53-4F9DA69E4776}"/>
              </a:ext>
            </a:extLst>
          </p:cNvPr>
          <p:cNvSpPr/>
          <p:nvPr/>
        </p:nvSpPr>
        <p:spPr>
          <a:xfrm rot="5400000">
            <a:off x="1593717" y="1700723"/>
            <a:ext cx="1005192" cy="1488331"/>
          </a:xfrm>
          <a:prstGeom prst="trapezoi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Pointnet</a:t>
            </a:r>
            <a:endParaRPr lang="de-DE" dirty="0">
              <a:solidFill>
                <a:schemeClr val="tx1"/>
              </a:solidFill>
            </a:endParaRPr>
          </a:p>
          <a:p>
            <a:pPr algn="ctr"/>
            <a:r>
              <a:rPr lang="de-DE" dirty="0">
                <a:solidFill>
                  <a:schemeClr val="tx1"/>
                </a:solidFill>
              </a:rPr>
              <a:t>Encoder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FC731930-62A8-9C71-14B9-A7C5C35A332D}"/>
              </a:ext>
            </a:extLst>
          </p:cNvPr>
          <p:cNvCxnSpPr/>
          <p:nvPr/>
        </p:nvCxnSpPr>
        <p:spPr>
          <a:xfrm>
            <a:off x="2937755" y="2256818"/>
            <a:ext cx="9273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B89B9BB-362C-52FE-DD7A-E3525468EDFB}"/>
              </a:ext>
            </a:extLst>
          </p:cNvPr>
          <p:cNvCxnSpPr/>
          <p:nvPr/>
        </p:nvCxnSpPr>
        <p:spPr>
          <a:xfrm>
            <a:off x="2931271" y="2626470"/>
            <a:ext cx="9338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04DEC907-4E57-21CF-E385-9E95F5888472}"/>
                  </a:ext>
                </a:extLst>
              </p:cNvPr>
              <p:cNvSpPr txBox="1"/>
              <p:nvPr/>
            </p:nvSpPr>
            <p:spPr>
              <a:xfrm>
                <a:off x="3881338" y="2020272"/>
                <a:ext cx="4863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m:oMathPara>
                </a14:m>
                <a:endParaRPr lang="en-GB" b="1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04DEC907-4E57-21CF-E385-9E95F5888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1338" y="2020272"/>
                <a:ext cx="486383" cy="369332"/>
              </a:xfrm>
              <a:prstGeom prst="rect">
                <a:avLst/>
              </a:prstGeom>
              <a:blipFill>
                <a:blip r:embed="rId2"/>
                <a:stretch>
                  <a:fillRect b="-32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88EA498-F2BD-F675-A8A5-B1C5BF6B5BA1}"/>
                  </a:ext>
                </a:extLst>
              </p:cNvPr>
              <p:cNvSpPr txBox="1"/>
              <p:nvPr/>
            </p:nvSpPr>
            <p:spPr>
              <a:xfrm>
                <a:off x="3865126" y="2441804"/>
                <a:ext cx="486383" cy="37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𝝈</m:t>
                          </m:r>
                        </m:e>
                        <m:sup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GB" b="1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88EA498-F2BD-F675-A8A5-B1C5BF6B5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5126" y="2441804"/>
                <a:ext cx="486383" cy="3755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A3716E-B80D-D787-B69A-707F6D6D0C78}"/>
              </a:ext>
            </a:extLst>
          </p:cNvPr>
          <p:cNvCxnSpPr>
            <a:cxnSpLocks/>
          </p:cNvCxnSpPr>
          <p:nvPr/>
        </p:nvCxnSpPr>
        <p:spPr>
          <a:xfrm flipV="1">
            <a:off x="4422845" y="2441803"/>
            <a:ext cx="130350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69FBACF9-DC2A-5EA7-A78D-D7AECF0D9A9C}"/>
              </a:ext>
            </a:extLst>
          </p:cNvPr>
          <p:cNvSpPr txBox="1"/>
          <p:nvPr/>
        </p:nvSpPr>
        <p:spPr>
          <a:xfrm>
            <a:off x="4451017" y="2105669"/>
            <a:ext cx="11997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Reparametrization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23E88AEC-E7DB-9981-7F8C-77231B77AAE2}"/>
                  </a:ext>
                </a:extLst>
              </p:cNvPr>
              <p:cNvSpPr txBox="1"/>
              <p:nvPr/>
            </p:nvSpPr>
            <p:spPr>
              <a:xfrm>
                <a:off x="5823628" y="2263623"/>
                <a:ext cx="7717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𝒛</m:t>
                      </m:r>
                    </m:oMath>
                  </m:oMathPara>
                </a14:m>
                <a:endParaRPr lang="en-GB" b="1" dirty="0"/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23E88AEC-E7DB-9981-7F8C-77231B77A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3628" y="2263623"/>
                <a:ext cx="77172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6241B63A-EFED-7D75-6D52-5DB5B35EABD8}"/>
                  </a:ext>
                </a:extLst>
              </p:cNvPr>
              <p:cNvSpPr txBox="1"/>
              <p:nvPr/>
            </p:nvSpPr>
            <p:spPr>
              <a:xfrm>
                <a:off x="5266516" y="2686377"/>
                <a:ext cx="21259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l-G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𝚽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6241B63A-EFED-7D75-6D52-5DB5B35EA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6516" y="2686377"/>
                <a:ext cx="2125900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D4642C1-B866-CEEA-CAA9-2BA889C7CEBB}"/>
              </a:ext>
            </a:extLst>
          </p:cNvPr>
          <p:cNvCxnSpPr/>
          <p:nvPr/>
        </p:nvCxnSpPr>
        <p:spPr>
          <a:xfrm>
            <a:off x="6666692" y="2441803"/>
            <a:ext cx="1057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rapezoid 18">
            <a:extLst>
              <a:ext uri="{FF2B5EF4-FFF2-40B4-BE49-F238E27FC236}">
                <a16:creationId xmlns:a16="http://schemas.microsoft.com/office/drawing/2014/main" id="{7EFA0993-8E44-1340-C04A-E74D127A212F}"/>
              </a:ext>
            </a:extLst>
          </p:cNvPr>
          <p:cNvSpPr/>
          <p:nvPr/>
        </p:nvSpPr>
        <p:spPr>
          <a:xfrm rot="16200000" flipH="1">
            <a:off x="8260409" y="1744127"/>
            <a:ext cx="1005192" cy="1488331"/>
          </a:xfrm>
          <a:prstGeom prst="trapezoi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Resnet</a:t>
            </a:r>
            <a:endParaRPr lang="de-DE" dirty="0">
              <a:solidFill>
                <a:schemeClr val="tx1"/>
              </a:solidFill>
            </a:endParaRPr>
          </a:p>
          <a:p>
            <a:pPr algn="ctr"/>
            <a:r>
              <a:rPr lang="de-DE" dirty="0" err="1">
                <a:solidFill>
                  <a:schemeClr val="tx1"/>
                </a:solidFill>
              </a:rPr>
              <a:t>decoder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6FF9F9F1-8ACF-413F-E89B-2268905905BA}"/>
              </a:ext>
            </a:extLst>
          </p:cNvPr>
          <p:cNvCxnSpPr>
            <a:cxnSpLocks/>
          </p:cNvCxnSpPr>
          <p:nvPr/>
        </p:nvCxnSpPr>
        <p:spPr>
          <a:xfrm>
            <a:off x="9656326" y="2441803"/>
            <a:ext cx="3955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5A5317B-40E3-C5BA-F9CD-E43D482A6A3E}"/>
                  </a:ext>
                </a:extLst>
              </p:cNvPr>
              <p:cNvSpPr txBox="1"/>
              <p:nvPr/>
            </p:nvSpPr>
            <p:spPr>
              <a:xfrm>
                <a:off x="9854121" y="2244169"/>
                <a:ext cx="81063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en-GB" b="1" dirty="0"/>
              </a:p>
            </p:txBody>
          </p:sp>
        </mc:Choice>
        <mc:Fallback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5A5317B-40E3-C5BA-F9CD-E43D482A6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4121" y="2244169"/>
                <a:ext cx="810638" cy="369332"/>
              </a:xfrm>
              <a:prstGeom prst="rect">
                <a:avLst/>
              </a:prstGeom>
              <a:blipFill>
                <a:blip r:embed="rId6"/>
                <a:stretch>
                  <a:fillRect t="-6557" r="-1954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4783BC47-55CE-55D7-FD61-8011C1BFAAF9}"/>
                  </a:ext>
                </a:extLst>
              </p:cNvPr>
              <p:cNvSpPr txBox="1"/>
              <p:nvPr/>
            </p:nvSpPr>
            <p:spPr>
              <a:xfrm>
                <a:off x="214008" y="2182082"/>
                <a:ext cx="81063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GB" b="1" dirty="0"/>
              </a:p>
            </p:txBody>
          </p:sp>
        </mc:Choice>
        <mc:Fallback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4783BC47-55CE-55D7-FD61-8011C1BFA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08" y="2182082"/>
                <a:ext cx="8106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AC52ED18-19ED-FD46-46D8-302BEEFB2A81}"/>
              </a:ext>
            </a:extLst>
          </p:cNvPr>
          <p:cNvCxnSpPr/>
          <p:nvPr/>
        </p:nvCxnSpPr>
        <p:spPr>
          <a:xfrm>
            <a:off x="851172" y="2389604"/>
            <a:ext cx="4263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4F26BC84-0F3B-5425-C56A-496085029DC8}"/>
                  </a:ext>
                </a:extLst>
              </p:cNvPr>
              <p:cNvSpPr txBox="1"/>
              <p:nvPr/>
            </p:nvSpPr>
            <p:spPr>
              <a:xfrm>
                <a:off x="9124549" y="2686377"/>
                <a:ext cx="21259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𝐶𝐷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4F26BC84-0F3B-5425-C56A-496085029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4549" y="2686377"/>
                <a:ext cx="2125900" cy="369332"/>
              </a:xfrm>
              <a:prstGeom prst="rect">
                <a:avLst/>
              </a:prstGeom>
              <a:blipFill>
                <a:blip r:embed="rId8"/>
                <a:stretch>
                  <a:fillRect t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feld 28">
            <a:extLst>
              <a:ext uri="{FF2B5EF4-FFF2-40B4-BE49-F238E27FC236}">
                <a16:creationId xmlns:a16="http://schemas.microsoft.com/office/drawing/2014/main" id="{A4A14256-67B8-E5E2-E762-45F5C3825511}"/>
              </a:ext>
            </a:extLst>
          </p:cNvPr>
          <p:cNvSpPr txBox="1"/>
          <p:nvPr/>
        </p:nvSpPr>
        <p:spPr>
          <a:xfrm>
            <a:off x="680936" y="1303506"/>
            <a:ext cx="2509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Self-</a:t>
            </a:r>
            <a:r>
              <a:rPr lang="de-DE" dirty="0" err="1"/>
              <a:t>supervised</a:t>
            </a:r>
            <a:r>
              <a:rPr lang="de-DE" dirty="0"/>
              <a:t> </a:t>
            </a:r>
            <a:r>
              <a:rPr lang="de-DE" dirty="0" err="1"/>
              <a:t>training</a:t>
            </a:r>
            <a:endParaRPr lang="en-GB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2599689-B29E-21AF-BBCB-DF6426A66C4E}"/>
              </a:ext>
            </a:extLst>
          </p:cNvPr>
          <p:cNvSpPr txBox="1"/>
          <p:nvPr/>
        </p:nvSpPr>
        <p:spPr>
          <a:xfrm>
            <a:off x="5402096" y="3081650"/>
            <a:ext cx="1854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Conditioning</a:t>
            </a:r>
            <a:r>
              <a:rPr lang="de-DE" dirty="0"/>
              <a:t> Loss on Latent Space</a:t>
            </a:r>
            <a:endParaRPr lang="en-GB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24E2F41E-B80A-CF7C-423D-A710CD8880C2}"/>
              </a:ext>
            </a:extLst>
          </p:cNvPr>
          <p:cNvSpPr txBox="1"/>
          <p:nvPr/>
        </p:nvSpPr>
        <p:spPr>
          <a:xfrm>
            <a:off x="9332070" y="3017726"/>
            <a:ext cx="18547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Chamfer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Reconstruction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than</a:t>
            </a:r>
            <a:r>
              <a:rPr lang="de-DE" dirty="0"/>
              <a:t> MSE on Point Clouds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B8CEC2B2-6CCD-548A-B9E1-0935B794EBBB}"/>
                  </a:ext>
                </a:extLst>
              </p:cNvPr>
              <p:cNvSpPr txBox="1"/>
              <p:nvPr/>
            </p:nvSpPr>
            <p:spPr>
              <a:xfrm>
                <a:off x="518809" y="4688732"/>
                <a:ext cx="4747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𝑇𝑜𝑡𝑎𝑙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𝐶𝐷</m:t>
                              </m:r>
                            </m:sub>
                          </m:sSub>
                          <m:d>
                            <m:dPr>
                              <m:begChr m:val="{"/>
                              <m:endChr m:val="}"/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</m:e>
                          </m:d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l-G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𝚽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𝑁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B8CEC2B2-6CCD-548A-B9E1-0935B794EB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809" y="4688732"/>
                <a:ext cx="4747707" cy="369332"/>
              </a:xfrm>
              <a:prstGeom prst="rect">
                <a:avLst/>
              </a:prstGeom>
              <a:blipFill>
                <a:blip r:embed="rId9"/>
                <a:stretch>
                  <a:fillRect t="-6557" b="-131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7B3F109A-52A2-D31B-FED1-A7EED21FDB87}"/>
                  </a:ext>
                </a:extLst>
              </p:cNvPr>
              <p:cNvSpPr txBox="1"/>
              <p:nvPr/>
            </p:nvSpPr>
            <p:spPr>
              <a:xfrm>
                <a:off x="747415" y="5088366"/>
                <a:ext cx="80350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𝐾𝐿</m:t>
                        </m:r>
                      </m:sub>
                    </m:sSub>
                  </m:oMath>
                </a14:m>
                <a:r>
                  <a:rPr lang="en-GB" dirty="0"/>
                  <a:t>: KL-Annealing increases linearly during training until a predefined upper bound</a:t>
                </a:r>
              </a:p>
            </p:txBody>
          </p:sp>
        </mc:Choice>
        <mc:Fallback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7B3F109A-52A2-D31B-FED1-A7EED21FD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15" y="5088366"/>
                <a:ext cx="8035048" cy="369332"/>
              </a:xfrm>
              <a:prstGeom prst="rect">
                <a:avLst/>
              </a:prstGeom>
              <a:blipFill>
                <a:blip r:embed="rId10"/>
                <a:stretch>
                  <a:fillRect l="-228" t="-10000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700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0" grpId="0"/>
      <p:bldP spid="13" grpId="0"/>
      <p:bldP spid="15" grpId="0"/>
      <p:bldP spid="16" grpId="0"/>
      <p:bldP spid="19" grpId="0" animBg="1"/>
      <p:bldP spid="22" grpId="0"/>
      <p:bldP spid="23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8D089A-C9EC-36D9-F9A7-6D931FCF4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7347"/>
            <a:ext cx="10515600" cy="1325563"/>
          </a:xfrm>
        </p:spPr>
        <p:txBody>
          <a:bodyPr>
            <a:normAutofit/>
          </a:bodyPr>
          <a:lstStyle/>
          <a:p>
            <a:r>
              <a:rPr lang="de-DE" sz="4000" dirty="0" err="1"/>
              <a:t>Comparing</a:t>
            </a:r>
            <a:r>
              <a:rPr lang="de-DE" sz="4000" dirty="0"/>
              <a:t> </a:t>
            </a:r>
            <a:r>
              <a:rPr lang="de-DE" sz="4000" dirty="0" err="1"/>
              <a:t>predicted</a:t>
            </a:r>
            <a:r>
              <a:rPr lang="de-DE" sz="4000" dirty="0"/>
              <a:t> </a:t>
            </a:r>
            <a:r>
              <a:rPr lang="de-DE" sz="4000" dirty="0" err="1"/>
              <a:t>vs</a:t>
            </a:r>
            <a:r>
              <a:rPr lang="de-DE" sz="4000" dirty="0"/>
              <a:t> </a:t>
            </a:r>
            <a:r>
              <a:rPr lang="de-DE" sz="4000" dirty="0" err="1"/>
              <a:t>target</a:t>
            </a:r>
            <a:r>
              <a:rPr lang="de-DE" sz="4000" dirty="0"/>
              <a:t> PCs</a:t>
            </a:r>
            <a:endParaRPr lang="en-GB" sz="40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3DBD24F-25B4-DC6C-5738-AA665B8A80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461" y="1199746"/>
            <a:ext cx="10179496" cy="5308448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177A931A-7F70-42B0-8771-AF6E474D63D0}"/>
              </a:ext>
            </a:extLst>
          </p:cNvPr>
          <p:cNvSpPr/>
          <p:nvPr/>
        </p:nvSpPr>
        <p:spPr>
          <a:xfrm>
            <a:off x="1426724" y="2717578"/>
            <a:ext cx="590144" cy="2204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0F6DEE2-B188-41A8-CDF1-C30D76978B66}"/>
              </a:ext>
            </a:extLst>
          </p:cNvPr>
          <p:cNvSpPr/>
          <p:nvPr/>
        </p:nvSpPr>
        <p:spPr>
          <a:xfrm>
            <a:off x="3453319" y="2759413"/>
            <a:ext cx="590144" cy="2204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7A50423-3312-3359-6A8A-0F48A55BF32E}"/>
              </a:ext>
            </a:extLst>
          </p:cNvPr>
          <p:cNvSpPr/>
          <p:nvPr/>
        </p:nvSpPr>
        <p:spPr>
          <a:xfrm>
            <a:off x="5510320" y="2804808"/>
            <a:ext cx="590144" cy="2204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F556C-86BF-9711-180E-E8F2F7630183}"/>
              </a:ext>
            </a:extLst>
          </p:cNvPr>
          <p:cNvSpPr/>
          <p:nvPr/>
        </p:nvSpPr>
        <p:spPr>
          <a:xfrm>
            <a:off x="7567321" y="2775625"/>
            <a:ext cx="590144" cy="2204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7A7633E-1767-D807-B0AE-9D13F83B0EA0}"/>
              </a:ext>
            </a:extLst>
          </p:cNvPr>
          <p:cNvSpPr/>
          <p:nvPr/>
        </p:nvSpPr>
        <p:spPr>
          <a:xfrm>
            <a:off x="9507590" y="2739957"/>
            <a:ext cx="590144" cy="2204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731A172-8E23-E91E-37A0-535C8725232E}"/>
              </a:ext>
            </a:extLst>
          </p:cNvPr>
          <p:cNvSpPr txBox="1"/>
          <p:nvPr/>
        </p:nvSpPr>
        <p:spPr>
          <a:xfrm>
            <a:off x="3317698" y="2902244"/>
            <a:ext cx="1044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2</a:t>
            </a:r>
            <a:endParaRPr lang="en-GB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4BE6E31-5C79-B6D0-BCD1-59AFE47D64D1}"/>
              </a:ext>
            </a:extLst>
          </p:cNvPr>
          <p:cNvSpPr txBox="1"/>
          <p:nvPr/>
        </p:nvSpPr>
        <p:spPr>
          <a:xfrm>
            <a:off x="1273541" y="2902244"/>
            <a:ext cx="1044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1</a:t>
            </a:r>
            <a:endParaRPr lang="en-GB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951E0B9E-4A29-DCED-020F-5810DA59C2DA}"/>
              </a:ext>
            </a:extLst>
          </p:cNvPr>
          <p:cNvSpPr txBox="1"/>
          <p:nvPr/>
        </p:nvSpPr>
        <p:spPr>
          <a:xfrm>
            <a:off x="5297190" y="2908568"/>
            <a:ext cx="1044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3</a:t>
            </a:r>
            <a:endParaRPr lang="en-GB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7C2A2E0-4585-212A-4DD8-270A3A931C07}"/>
              </a:ext>
            </a:extLst>
          </p:cNvPr>
          <p:cNvSpPr txBox="1"/>
          <p:nvPr/>
        </p:nvSpPr>
        <p:spPr>
          <a:xfrm>
            <a:off x="7313608" y="2902244"/>
            <a:ext cx="1044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4</a:t>
            </a:r>
            <a:endParaRPr lang="en-GB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70D2704F-1AA0-C857-5A37-77D26D4F0B8C}"/>
              </a:ext>
            </a:extLst>
          </p:cNvPr>
          <p:cNvSpPr txBox="1"/>
          <p:nvPr/>
        </p:nvSpPr>
        <p:spPr>
          <a:xfrm>
            <a:off x="9283234" y="2902244"/>
            <a:ext cx="1044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Sample 5</a:t>
            </a:r>
            <a:endParaRPr lang="en-GB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9551E46-3FED-D051-58CF-883D3D44DE65}"/>
              </a:ext>
            </a:extLst>
          </p:cNvPr>
          <p:cNvSpPr/>
          <p:nvPr/>
        </p:nvSpPr>
        <p:spPr>
          <a:xfrm>
            <a:off x="5097294" y="1199746"/>
            <a:ext cx="1413753" cy="5642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6381D19A-C5B2-4E71-8E62-4E934CCEBFB9}"/>
              </a:ext>
            </a:extLst>
          </p:cNvPr>
          <p:cNvGrpSpPr/>
          <p:nvPr/>
        </p:nvGrpSpPr>
        <p:grpSpPr>
          <a:xfrm>
            <a:off x="4747098" y="1579283"/>
            <a:ext cx="1841771" cy="705095"/>
            <a:chOff x="4857345" y="1378244"/>
            <a:chExt cx="1841771" cy="705095"/>
          </a:xfrm>
        </p:grpSpPr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F8CE8C44-E951-298E-50B5-8089E909D3C1}"/>
                </a:ext>
              </a:extLst>
            </p:cNvPr>
            <p:cNvSpPr/>
            <p:nvPr/>
          </p:nvSpPr>
          <p:spPr>
            <a:xfrm>
              <a:off x="4857345" y="1508629"/>
              <a:ext cx="155642" cy="154800"/>
            </a:xfrm>
            <a:prstGeom prst="ellips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B4CE74BB-2F4C-46E1-D550-0A02025F4208}"/>
                </a:ext>
              </a:extLst>
            </p:cNvPr>
            <p:cNvSpPr/>
            <p:nvPr/>
          </p:nvSpPr>
          <p:spPr>
            <a:xfrm>
              <a:off x="4857345" y="1856423"/>
              <a:ext cx="155642" cy="154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3CBFFD10-DF10-5EC5-54F6-A8E5D374BFE5}"/>
                </a:ext>
              </a:extLst>
            </p:cNvPr>
            <p:cNvSpPr txBox="1"/>
            <p:nvPr/>
          </p:nvSpPr>
          <p:spPr>
            <a:xfrm>
              <a:off x="5097294" y="1378244"/>
              <a:ext cx="16018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 err="1"/>
                <a:t>predicted</a:t>
              </a:r>
              <a:endParaRPr lang="en-GB" dirty="0"/>
            </a:p>
          </p:txBody>
        </p: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946AC5C9-8C27-E46E-8AD2-173A169FC6BE}"/>
                </a:ext>
              </a:extLst>
            </p:cNvPr>
            <p:cNvSpPr txBox="1"/>
            <p:nvPr/>
          </p:nvSpPr>
          <p:spPr>
            <a:xfrm>
              <a:off x="5097294" y="1714007"/>
              <a:ext cx="16018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 err="1"/>
                <a:t>target</a:t>
              </a:r>
              <a:endParaRPr lang="en-GB" dirty="0"/>
            </a:p>
          </p:txBody>
        </p:sp>
      </p:grpSp>
      <p:sp>
        <p:nvSpPr>
          <p:cNvPr id="28" name="Textfeld 27">
            <a:extLst>
              <a:ext uri="{FF2B5EF4-FFF2-40B4-BE49-F238E27FC236}">
                <a16:creationId xmlns:a16="http://schemas.microsoft.com/office/drawing/2014/main" id="{B92E981B-9774-4640-EB96-25C449E4D5E2}"/>
              </a:ext>
            </a:extLst>
          </p:cNvPr>
          <p:cNvSpPr txBox="1"/>
          <p:nvPr/>
        </p:nvSpPr>
        <p:spPr>
          <a:xfrm>
            <a:off x="1357964" y="4531903"/>
            <a:ext cx="1044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0.0019</a:t>
            </a:r>
            <a:endParaRPr lang="en-GB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9C8AEC9E-3504-5305-9D7E-373726C43533}"/>
              </a:ext>
            </a:extLst>
          </p:cNvPr>
          <p:cNvSpPr txBox="1"/>
          <p:nvPr/>
        </p:nvSpPr>
        <p:spPr>
          <a:xfrm>
            <a:off x="205103" y="4388655"/>
            <a:ext cx="1044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Chamfer</a:t>
            </a:r>
            <a:endParaRPr lang="de-DE" dirty="0"/>
          </a:p>
          <a:p>
            <a:r>
              <a:rPr lang="de-DE" dirty="0" err="1"/>
              <a:t>Distance</a:t>
            </a:r>
            <a:endParaRPr lang="en-GB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FBCAF2C9-4297-37D2-6247-2062DC122714}"/>
              </a:ext>
            </a:extLst>
          </p:cNvPr>
          <p:cNvSpPr txBox="1"/>
          <p:nvPr/>
        </p:nvSpPr>
        <p:spPr>
          <a:xfrm>
            <a:off x="3358302" y="4534191"/>
            <a:ext cx="1044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0.0016</a:t>
            </a:r>
            <a:endParaRPr lang="en-GB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7A04C547-9E0F-0795-649A-10398B75003C}"/>
              </a:ext>
            </a:extLst>
          </p:cNvPr>
          <p:cNvSpPr txBox="1"/>
          <p:nvPr/>
        </p:nvSpPr>
        <p:spPr>
          <a:xfrm>
            <a:off x="5358640" y="4531903"/>
            <a:ext cx="1044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0.0015</a:t>
            </a:r>
            <a:endParaRPr lang="en-GB" dirty="0"/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7FB8BD75-9949-F68F-7814-626CAEA6548B}"/>
              </a:ext>
            </a:extLst>
          </p:cNvPr>
          <p:cNvSpPr txBox="1"/>
          <p:nvPr/>
        </p:nvSpPr>
        <p:spPr>
          <a:xfrm>
            <a:off x="7419975" y="4527155"/>
            <a:ext cx="1044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0.0007</a:t>
            </a:r>
            <a:endParaRPr lang="en-GB" dirty="0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BE825E43-232E-C61C-0C28-E715C902E546}"/>
              </a:ext>
            </a:extLst>
          </p:cNvPr>
          <p:cNvSpPr txBox="1"/>
          <p:nvPr/>
        </p:nvSpPr>
        <p:spPr>
          <a:xfrm>
            <a:off x="9617549" y="4527155"/>
            <a:ext cx="1044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0.0013</a:t>
            </a:r>
            <a:endParaRPr lang="en-GB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494CFB9-E613-AAAD-7436-B26FCFD8F991}"/>
              </a:ext>
            </a:extLst>
          </p:cNvPr>
          <p:cNvSpPr txBox="1"/>
          <p:nvPr/>
        </p:nvSpPr>
        <p:spPr>
          <a:xfrm>
            <a:off x="1089524" y="5450990"/>
            <a:ext cx="82467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Best </a:t>
            </a:r>
            <a:r>
              <a:rPr lang="de-DE" dirty="0" err="1"/>
              <a:t>reconstructions</a:t>
            </a:r>
            <a:r>
              <a:rPr lang="de-DE" dirty="0"/>
              <a:t> </a:t>
            </a:r>
            <a:r>
              <a:rPr lang="de-DE" dirty="0" err="1"/>
              <a:t>yet</a:t>
            </a:r>
            <a:r>
              <a:rPr lang="de-DE" dirty="0"/>
              <a:t>, but VAEs </a:t>
            </a:r>
            <a:r>
              <a:rPr lang="de-DE" dirty="0" err="1"/>
              <a:t>known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bad</a:t>
            </a:r>
            <a:r>
              <a:rPr lang="de-DE" dirty="0"/>
              <a:t> </a:t>
            </a:r>
            <a:r>
              <a:rPr lang="de-DE" dirty="0" err="1"/>
              <a:t>scaling</a:t>
            </a:r>
            <a:r>
              <a:rPr lang="de-DE" dirty="0"/>
              <a:t> </a:t>
            </a:r>
            <a:r>
              <a:rPr lang="de-DE" dirty="0" err="1"/>
              <a:t>properties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large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sets</a:t>
            </a:r>
            <a:endParaRPr lang="de-DE" dirty="0"/>
          </a:p>
          <a:p>
            <a:r>
              <a:rPr lang="de-DE" dirty="0"/>
              <a:t>Not </a:t>
            </a:r>
            <a:r>
              <a:rPr lang="de-DE" dirty="0" err="1"/>
              <a:t>as</a:t>
            </a:r>
            <a:r>
              <a:rPr lang="de-DE" dirty="0"/>
              <a:t> flexible </a:t>
            </a:r>
            <a:r>
              <a:rPr lang="de-DE" dirty="0" err="1"/>
              <a:t>as</a:t>
            </a:r>
            <a:r>
              <a:rPr lang="de-DE" dirty="0"/>
              <a:t> Diffusion-Autoencoder,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fixed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80585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47A208-66F5-3BA0-523B-1942FA770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8135"/>
          </a:xfrm>
        </p:spPr>
        <p:txBody>
          <a:bodyPr>
            <a:normAutofit/>
          </a:bodyPr>
          <a:lstStyle/>
          <a:p>
            <a:r>
              <a:rPr lang="de-DE" sz="3200" dirty="0"/>
              <a:t>Outlook</a:t>
            </a:r>
            <a:endParaRPr lang="en-GB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EA06EF-4461-1251-ECE4-7F8ACEFCC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5189" y="1251625"/>
            <a:ext cx="10515600" cy="4351338"/>
          </a:xfrm>
        </p:spPr>
        <p:txBody>
          <a:bodyPr/>
          <a:lstStyle/>
          <a:p>
            <a:r>
              <a:rPr lang="de-DE" dirty="0"/>
              <a:t>Native Diffusion </a:t>
            </a:r>
            <a:r>
              <a:rPr lang="de-DE" dirty="0" err="1"/>
              <a:t>conditioned</a:t>
            </a:r>
            <a:r>
              <a:rPr lang="de-DE" dirty="0"/>
              <a:t> on </a:t>
            </a:r>
            <a:r>
              <a:rPr lang="de-DE" dirty="0" err="1"/>
              <a:t>Grasps</a:t>
            </a:r>
            <a:endParaRPr lang="de-DE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Test the limits of the VAE</a:t>
            </a:r>
          </a:p>
          <a:p>
            <a:pPr lvl="1"/>
            <a:r>
              <a:rPr lang="en-GB" dirty="0"/>
              <a:t>How many shapes can the VAE learn</a:t>
            </a:r>
          </a:p>
          <a:p>
            <a:pPr lvl="1"/>
            <a:r>
              <a:rPr lang="en-GB" dirty="0"/>
              <a:t>How accurate are the reconstructions when trained on more shapes</a:t>
            </a:r>
          </a:p>
          <a:p>
            <a:r>
              <a:rPr lang="en-GB" dirty="0"/>
              <a:t>Grasp conditioned Diffusion-Autoencoder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FBDEACD-4167-01DB-DA10-630C9B8557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0935" y="1732074"/>
            <a:ext cx="880554" cy="933306"/>
          </a:xfrm>
          <a:prstGeom prst="rect">
            <a:avLst/>
          </a:prstGeom>
        </p:spPr>
      </p:pic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7B05AB74-180F-5E62-255E-A80E9BBEA82B}"/>
              </a:ext>
            </a:extLst>
          </p:cNvPr>
          <p:cNvCxnSpPr/>
          <p:nvPr/>
        </p:nvCxnSpPr>
        <p:spPr>
          <a:xfrm>
            <a:off x="2289243" y="2191966"/>
            <a:ext cx="4928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3F983222-E75E-53B2-E47B-F71039C7884A}"/>
              </a:ext>
            </a:extLst>
          </p:cNvPr>
          <p:cNvSpPr/>
          <p:nvPr/>
        </p:nvSpPr>
        <p:spPr>
          <a:xfrm>
            <a:off x="2898842" y="1997690"/>
            <a:ext cx="1147864" cy="4020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Diffusion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99E0673-D7ED-B7F8-64A8-310F501AD5F1}"/>
              </a:ext>
            </a:extLst>
          </p:cNvPr>
          <p:cNvCxnSpPr/>
          <p:nvPr/>
        </p:nvCxnSpPr>
        <p:spPr>
          <a:xfrm>
            <a:off x="4182894" y="2191966"/>
            <a:ext cx="5512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Grafik 9">
            <a:extLst>
              <a:ext uri="{FF2B5EF4-FFF2-40B4-BE49-F238E27FC236}">
                <a16:creationId xmlns:a16="http://schemas.microsoft.com/office/drawing/2014/main" id="{A5D075B3-C086-9CBF-254D-4F80EC1AC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82" y="1854418"/>
            <a:ext cx="1319723" cy="73351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A6D0D5C4-8DC2-CBE5-34A7-ED74A0AFDA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0935" y="4601733"/>
            <a:ext cx="880554" cy="933306"/>
          </a:xfrm>
          <a:prstGeom prst="rect">
            <a:avLst/>
          </a:prstGeom>
        </p:spPr>
      </p:pic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21D161B1-09FF-9AB7-CB25-CD34D243EAE0}"/>
              </a:ext>
            </a:extLst>
          </p:cNvPr>
          <p:cNvCxnSpPr/>
          <p:nvPr/>
        </p:nvCxnSpPr>
        <p:spPr>
          <a:xfrm>
            <a:off x="2289243" y="5061625"/>
            <a:ext cx="4928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725B8C7C-1BAD-2262-21C6-AAA7D2BAD661}"/>
              </a:ext>
            </a:extLst>
          </p:cNvPr>
          <p:cNvSpPr/>
          <p:nvPr/>
        </p:nvSpPr>
        <p:spPr>
          <a:xfrm>
            <a:off x="2898842" y="4867349"/>
            <a:ext cx="1147864" cy="4020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Diffusion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172FCD2-0F35-8F91-7DD4-3C14B4E1D543}"/>
              </a:ext>
            </a:extLst>
          </p:cNvPr>
          <p:cNvCxnSpPr/>
          <p:nvPr/>
        </p:nvCxnSpPr>
        <p:spPr>
          <a:xfrm>
            <a:off x="4182894" y="5061625"/>
            <a:ext cx="5512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85E10DA-A5D6-9ACC-DD5B-4881A53E9697}"/>
                  </a:ext>
                </a:extLst>
              </p:cNvPr>
              <p:cNvSpPr txBox="1"/>
              <p:nvPr/>
            </p:nvSpPr>
            <p:spPr>
              <a:xfrm>
                <a:off x="4643338" y="4858215"/>
                <a:ext cx="5512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𝒛</m:t>
                      </m:r>
                    </m:oMath>
                  </m:oMathPara>
                </a14:m>
                <a:endParaRPr lang="en-GB" b="1" dirty="0"/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85E10DA-A5D6-9ACC-DD5B-4881A53E9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338" y="4858215"/>
                <a:ext cx="55123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4EBBBE66-9B18-B80E-D817-3FE9A64988C3}"/>
              </a:ext>
            </a:extLst>
          </p:cNvPr>
          <p:cNvCxnSpPr>
            <a:stCxn id="15" idx="3"/>
          </p:cNvCxnSpPr>
          <p:nvPr/>
        </p:nvCxnSpPr>
        <p:spPr>
          <a:xfrm>
            <a:off x="5194572" y="5042881"/>
            <a:ext cx="5771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25828BB7-7263-2435-FBE8-8C07AE0219B6}"/>
              </a:ext>
            </a:extLst>
          </p:cNvPr>
          <p:cNvSpPr/>
          <p:nvPr/>
        </p:nvSpPr>
        <p:spPr>
          <a:xfrm>
            <a:off x="5994623" y="4841844"/>
            <a:ext cx="1147864" cy="4020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Diffusion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4A87D00A-AC88-680A-809E-5C019451068C}"/>
              </a:ext>
            </a:extLst>
          </p:cNvPr>
          <p:cNvCxnSpPr/>
          <p:nvPr/>
        </p:nvCxnSpPr>
        <p:spPr>
          <a:xfrm>
            <a:off x="7308715" y="5042881"/>
            <a:ext cx="6420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Grafik 20">
            <a:extLst>
              <a:ext uri="{FF2B5EF4-FFF2-40B4-BE49-F238E27FC236}">
                <a16:creationId xmlns:a16="http://schemas.microsoft.com/office/drawing/2014/main" id="{0798D94F-ADB5-6ED8-759D-FFF1B911D5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4972" y="4676124"/>
            <a:ext cx="1319723" cy="733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432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5" grpId="0"/>
      <p:bldP spid="1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A0150F-14B9-E907-1BF0-579086352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VAE-Model Architecture Encoder</a:t>
            </a:r>
            <a:endParaRPr lang="en-GB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D2BC156-09E1-DE42-F0F5-47CF2DB307D1}"/>
              </a:ext>
            </a:extLst>
          </p:cNvPr>
          <p:cNvSpPr/>
          <p:nvPr/>
        </p:nvSpPr>
        <p:spPr>
          <a:xfrm>
            <a:off x="2107660" y="1690688"/>
            <a:ext cx="1958502" cy="7068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Projection</a:t>
            </a:r>
            <a:endParaRPr lang="en-GB" dirty="0">
              <a:solidFill>
                <a:schemeClr val="tx1"/>
              </a:solidFill>
            </a:endParaRP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95F2DEF-60E7-3A88-F9E3-3B8AB7529929}"/>
              </a:ext>
            </a:extLst>
          </p:cNvPr>
          <p:cNvGrpSpPr/>
          <p:nvPr/>
        </p:nvGrpSpPr>
        <p:grpSpPr>
          <a:xfrm>
            <a:off x="1183532" y="1834578"/>
            <a:ext cx="434503" cy="419095"/>
            <a:chOff x="995464" y="1690688"/>
            <a:chExt cx="434503" cy="419095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82CDB697-67DB-B4CC-D01B-E042A012A7B1}"/>
                </a:ext>
              </a:extLst>
            </p:cNvPr>
            <p:cNvSpPr/>
            <p:nvPr/>
          </p:nvSpPr>
          <p:spPr>
            <a:xfrm>
              <a:off x="1134894" y="1690688"/>
              <a:ext cx="58366" cy="45719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D0840455-AAA2-D125-2356-CC62F8C9C5BA}"/>
                </a:ext>
              </a:extLst>
            </p:cNvPr>
            <p:cNvSpPr/>
            <p:nvPr/>
          </p:nvSpPr>
          <p:spPr>
            <a:xfrm>
              <a:off x="995464" y="1843087"/>
              <a:ext cx="58366" cy="45719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A41C41E9-6BDD-2BD9-567E-3135A1EF76B4}"/>
                </a:ext>
              </a:extLst>
            </p:cNvPr>
            <p:cNvSpPr/>
            <p:nvPr/>
          </p:nvSpPr>
          <p:spPr>
            <a:xfrm>
              <a:off x="1164077" y="1888806"/>
              <a:ext cx="58366" cy="45719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59B8FE20-37B1-3087-B7DA-0EE17B17777D}"/>
                </a:ext>
              </a:extLst>
            </p:cNvPr>
            <p:cNvSpPr/>
            <p:nvPr/>
          </p:nvSpPr>
          <p:spPr>
            <a:xfrm>
              <a:off x="1371601" y="1766887"/>
              <a:ext cx="58366" cy="45719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370DFC89-3186-AC75-1B09-E87462BFF366}"/>
                </a:ext>
              </a:extLst>
            </p:cNvPr>
            <p:cNvSpPr/>
            <p:nvPr/>
          </p:nvSpPr>
          <p:spPr>
            <a:xfrm>
              <a:off x="1371601" y="1890769"/>
              <a:ext cx="58366" cy="45719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3E704AB-768F-F41B-2F2F-B730E47ECF22}"/>
                </a:ext>
              </a:extLst>
            </p:cNvPr>
            <p:cNvSpPr/>
            <p:nvPr/>
          </p:nvSpPr>
          <p:spPr>
            <a:xfrm>
              <a:off x="1193260" y="2064064"/>
              <a:ext cx="58366" cy="45719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4346109-61CE-E731-1443-1466B4743297}"/>
              </a:ext>
            </a:extLst>
          </p:cNvPr>
          <p:cNvCxnSpPr/>
          <p:nvPr/>
        </p:nvCxnSpPr>
        <p:spPr>
          <a:xfrm>
            <a:off x="1783404" y="2009836"/>
            <a:ext cx="239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0129F42-2137-67C4-B178-96D6C855BE5E}"/>
              </a:ext>
            </a:extLst>
          </p:cNvPr>
          <p:cNvCxnSpPr/>
          <p:nvPr/>
        </p:nvCxnSpPr>
        <p:spPr>
          <a:xfrm>
            <a:off x="4186135" y="2032696"/>
            <a:ext cx="239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D51C4FF8-5201-3762-DCB0-B40BC4D7EB72}"/>
                  </a:ext>
                </a:extLst>
              </p:cNvPr>
              <p:cNvSpPr txBox="1"/>
              <p:nvPr/>
            </p:nvSpPr>
            <p:spPr>
              <a:xfrm>
                <a:off x="946826" y="2397565"/>
                <a:ext cx="9857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D51C4FF8-5201-3762-DCB0-B40BC4D7E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826" y="2397565"/>
                <a:ext cx="98573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06CE1653-71A3-4DA4-D9B5-D2E2DC28F31D}"/>
                  </a:ext>
                </a:extLst>
              </p:cNvPr>
              <p:cNvSpPr txBox="1"/>
              <p:nvPr/>
            </p:nvSpPr>
            <p:spPr>
              <a:xfrm>
                <a:off x="5449923" y="2289677"/>
                <a:ext cx="9857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06CE1653-71A3-4DA4-D9B5-D2E2DC28F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9923" y="2289677"/>
                <a:ext cx="98573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feld 18">
            <a:extLst>
              <a:ext uri="{FF2B5EF4-FFF2-40B4-BE49-F238E27FC236}">
                <a16:creationId xmlns:a16="http://schemas.microsoft.com/office/drawing/2014/main" id="{629C3865-8D62-064B-F3A4-CDCD046DABFC}"/>
              </a:ext>
            </a:extLst>
          </p:cNvPr>
          <p:cNvSpPr txBox="1"/>
          <p:nvPr/>
        </p:nvSpPr>
        <p:spPr>
          <a:xfrm>
            <a:off x="797669" y="2762434"/>
            <a:ext cx="129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Pointcloud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3DC4E251-6D22-15CE-826C-B5611FA882EC}"/>
                  </a:ext>
                </a:extLst>
              </p:cNvPr>
              <p:cNvSpPr txBox="1"/>
              <p:nvPr/>
            </p:nvSpPr>
            <p:spPr>
              <a:xfrm>
                <a:off x="5508288" y="1893749"/>
                <a:ext cx="7311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⃑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ac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3DC4E251-6D22-15CE-826C-B5611FA88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288" y="1893749"/>
                <a:ext cx="731196" cy="369332"/>
              </a:xfrm>
              <a:prstGeom prst="rect">
                <a:avLst/>
              </a:prstGeom>
              <a:blipFill>
                <a:blip r:embed="rId4"/>
                <a:stretch>
                  <a:fillRect t="-6667" r="-4167" b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feld 21">
            <a:extLst>
              <a:ext uri="{FF2B5EF4-FFF2-40B4-BE49-F238E27FC236}">
                <a16:creationId xmlns:a16="http://schemas.microsoft.com/office/drawing/2014/main" id="{7C7F8883-E507-A73A-1403-A6E1F8DF9A44}"/>
              </a:ext>
            </a:extLst>
          </p:cNvPr>
          <p:cNvSpPr txBox="1"/>
          <p:nvPr/>
        </p:nvSpPr>
        <p:spPr>
          <a:xfrm>
            <a:off x="5131340" y="2678462"/>
            <a:ext cx="1793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Global Feature</a:t>
            </a:r>
            <a:endParaRPr lang="en-GB" dirty="0"/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AB69943D-34AB-D7F7-1651-D0D732E300A5}"/>
              </a:ext>
            </a:extLst>
          </p:cNvPr>
          <p:cNvCxnSpPr>
            <a:cxnSpLocks/>
          </p:cNvCxnSpPr>
          <p:nvPr/>
        </p:nvCxnSpPr>
        <p:spPr>
          <a:xfrm flipV="1">
            <a:off x="6328655" y="1734942"/>
            <a:ext cx="1743682" cy="290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C9FE1571-144D-F31F-902D-85921970B235}"/>
              </a:ext>
            </a:extLst>
          </p:cNvPr>
          <p:cNvCxnSpPr>
            <a:cxnSpLocks/>
          </p:cNvCxnSpPr>
          <p:nvPr/>
        </p:nvCxnSpPr>
        <p:spPr>
          <a:xfrm>
            <a:off x="6323790" y="2024445"/>
            <a:ext cx="1687748" cy="429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CA90D103-60DE-776F-13A9-432E7C0BEF10}"/>
              </a:ext>
            </a:extLst>
          </p:cNvPr>
          <p:cNvSpPr/>
          <p:nvPr/>
        </p:nvSpPr>
        <p:spPr>
          <a:xfrm>
            <a:off x="8180151" y="1507605"/>
            <a:ext cx="1511030" cy="622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MLP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E618DF9-DDEF-85C6-BB2F-0E4106C1F559}"/>
              </a:ext>
            </a:extLst>
          </p:cNvPr>
          <p:cNvSpPr/>
          <p:nvPr/>
        </p:nvSpPr>
        <p:spPr>
          <a:xfrm>
            <a:off x="8180151" y="2249629"/>
            <a:ext cx="1511030" cy="622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MLP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FC56B474-7DBC-44E1-7CA6-7AE394EC6B8B}"/>
              </a:ext>
            </a:extLst>
          </p:cNvPr>
          <p:cNvCxnSpPr/>
          <p:nvPr/>
        </p:nvCxnSpPr>
        <p:spPr>
          <a:xfrm>
            <a:off x="9798995" y="1789203"/>
            <a:ext cx="4150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65C256F9-F898-7854-06E4-B413C69A752D}"/>
              </a:ext>
            </a:extLst>
          </p:cNvPr>
          <p:cNvCxnSpPr/>
          <p:nvPr/>
        </p:nvCxnSpPr>
        <p:spPr>
          <a:xfrm>
            <a:off x="9808729" y="2560913"/>
            <a:ext cx="4150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feld 36">
                <a:extLst>
                  <a:ext uri="{FF2B5EF4-FFF2-40B4-BE49-F238E27FC236}">
                    <a16:creationId xmlns:a16="http://schemas.microsoft.com/office/drawing/2014/main" id="{5B385E18-F33E-112B-1802-E4818D5E40DD}"/>
                  </a:ext>
                </a:extLst>
              </p:cNvPr>
              <p:cNvSpPr txBox="1"/>
              <p:nvPr/>
            </p:nvSpPr>
            <p:spPr>
              <a:xfrm>
                <a:off x="10265930" y="1577760"/>
                <a:ext cx="11381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∈ 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7" name="Textfeld 36">
                <a:extLst>
                  <a:ext uri="{FF2B5EF4-FFF2-40B4-BE49-F238E27FC236}">
                    <a16:creationId xmlns:a16="http://schemas.microsoft.com/office/drawing/2014/main" id="{5B385E18-F33E-112B-1802-E4818D5E40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5930" y="1577760"/>
                <a:ext cx="1138135" cy="369332"/>
              </a:xfrm>
              <a:prstGeom prst="rect">
                <a:avLst/>
              </a:prstGeom>
              <a:blipFill>
                <a:blip r:embed="rId5"/>
                <a:stretch>
                  <a:fillRect b="-5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34956597-8433-F58D-9A1E-3B7D1481CDC9}"/>
                  </a:ext>
                </a:extLst>
              </p:cNvPr>
              <p:cNvSpPr txBox="1"/>
              <p:nvPr/>
            </p:nvSpPr>
            <p:spPr>
              <a:xfrm>
                <a:off x="9798995" y="2365298"/>
                <a:ext cx="22633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∈ 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34956597-8433-F58D-9A1E-3B7D1481CD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995" y="2365298"/>
                <a:ext cx="2263304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Ellipse 38">
            <a:extLst>
              <a:ext uri="{FF2B5EF4-FFF2-40B4-BE49-F238E27FC236}">
                <a16:creationId xmlns:a16="http://schemas.microsoft.com/office/drawing/2014/main" id="{EF85B1F1-6E31-B2C4-3BB0-1429C40D58F5}"/>
              </a:ext>
            </a:extLst>
          </p:cNvPr>
          <p:cNvSpPr/>
          <p:nvPr/>
        </p:nvSpPr>
        <p:spPr>
          <a:xfrm>
            <a:off x="1932562" y="1536970"/>
            <a:ext cx="2302213" cy="1023943"/>
          </a:xfrm>
          <a:prstGeom prst="ellipse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34CC6067-B29F-8164-DA60-696C89AACDCC}"/>
              </a:ext>
            </a:extLst>
          </p:cNvPr>
          <p:cNvSpPr/>
          <p:nvPr/>
        </p:nvSpPr>
        <p:spPr>
          <a:xfrm>
            <a:off x="2396247" y="3340472"/>
            <a:ext cx="1374842" cy="6939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ysClr val="windowText" lastClr="000000"/>
                </a:solidFill>
              </a:rPr>
              <a:t>Conv</a:t>
            </a:r>
            <a:r>
              <a:rPr lang="de-DE" dirty="0">
                <a:solidFill>
                  <a:sysClr val="windowText" lastClr="000000"/>
                </a:solidFill>
              </a:rPr>
              <a:t>(1x1)</a:t>
            </a:r>
            <a:endParaRPr lang="en-GB" dirty="0">
              <a:solidFill>
                <a:sysClr val="windowText" lastClr="000000"/>
              </a:solidFill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7BDC0A2-0300-2895-C1B6-1632FE0E144D}"/>
              </a:ext>
            </a:extLst>
          </p:cNvPr>
          <p:cNvCxnSpPr>
            <a:cxnSpLocks/>
          </p:cNvCxnSpPr>
          <p:nvPr/>
        </p:nvCxnSpPr>
        <p:spPr>
          <a:xfrm flipV="1">
            <a:off x="3083668" y="2745580"/>
            <a:ext cx="0" cy="50994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DE9FD0EE-1AA1-8EA2-D761-36083DC6CB15}"/>
              </a:ext>
            </a:extLst>
          </p:cNvPr>
          <p:cNvSpPr/>
          <p:nvPr/>
        </p:nvSpPr>
        <p:spPr>
          <a:xfrm>
            <a:off x="2396247" y="4253892"/>
            <a:ext cx="1374842" cy="6939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ysClr val="windowText" lastClr="000000"/>
                </a:solidFill>
              </a:rPr>
              <a:t>Conv</a:t>
            </a:r>
            <a:r>
              <a:rPr lang="de-DE" dirty="0">
                <a:solidFill>
                  <a:sysClr val="windowText" lastClr="000000"/>
                </a:solidFill>
              </a:rPr>
              <a:t>(1x1)</a:t>
            </a:r>
            <a:endParaRPr lang="en-GB" dirty="0">
              <a:solidFill>
                <a:sysClr val="windowText" lastClr="000000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BE3864E3-49DF-80E8-1D49-E6E1B709B5D1}"/>
              </a:ext>
            </a:extLst>
          </p:cNvPr>
          <p:cNvSpPr/>
          <p:nvPr/>
        </p:nvSpPr>
        <p:spPr>
          <a:xfrm>
            <a:off x="2396247" y="5167312"/>
            <a:ext cx="1374842" cy="6939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ysClr val="windowText" lastClr="000000"/>
                </a:solidFill>
              </a:rPr>
              <a:t>Conv</a:t>
            </a:r>
            <a:r>
              <a:rPr lang="de-DE" dirty="0">
                <a:solidFill>
                  <a:sysClr val="windowText" lastClr="000000"/>
                </a:solidFill>
              </a:rPr>
              <a:t>(1x1)</a:t>
            </a:r>
            <a:endParaRPr lang="en-GB" dirty="0">
              <a:solidFill>
                <a:sysClr val="windowText" lastClr="000000"/>
              </a:solidFill>
            </a:endParaRP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90529DE3-E244-7720-4CB5-9B5BF9BC9A4A}"/>
              </a:ext>
            </a:extLst>
          </p:cNvPr>
          <p:cNvCxnSpPr>
            <a:stCxn id="43" idx="2"/>
            <a:endCxn id="46" idx="0"/>
          </p:cNvCxnSpPr>
          <p:nvPr/>
        </p:nvCxnSpPr>
        <p:spPr>
          <a:xfrm>
            <a:off x="3083668" y="4034378"/>
            <a:ext cx="0" cy="219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0D8A78C9-F419-3F64-3B14-CD3B10C4B308}"/>
              </a:ext>
            </a:extLst>
          </p:cNvPr>
          <p:cNvCxnSpPr/>
          <p:nvPr/>
        </p:nvCxnSpPr>
        <p:spPr>
          <a:xfrm>
            <a:off x="3083668" y="4947798"/>
            <a:ext cx="0" cy="219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Rechteck 51">
            <a:extLst>
              <a:ext uri="{FF2B5EF4-FFF2-40B4-BE49-F238E27FC236}">
                <a16:creationId xmlns:a16="http://schemas.microsoft.com/office/drawing/2014/main" id="{0E6492D8-3EE8-BFA3-8BB5-2AAA942DE583}"/>
              </a:ext>
            </a:extLst>
          </p:cNvPr>
          <p:cNvSpPr/>
          <p:nvPr/>
        </p:nvSpPr>
        <p:spPr>
          <a:xfrm>
            <a:off x="356681" y="1264596"/>
            <a:ext cx="11342451" cy="5228279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25FBAAF4-C8D5-A2FD-6D64-16A98E789437}"/>
              </a:ext>
            </a:extLst>
          </p:cNvPr>
          <p:cNvSpPr txBox="1"/>
          <p:nvPr/>
        </p:nvSpPr>
        <p:spPr>
          <a:xfrm>
            <a:off x="9699206" y="5693706"/>
            <a:ext cx="2263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Encoder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feld 53">
                <a:extLst>
                  <a:ext uri="{FF2B5EF4-FFF2-40B4-BE49-F238E27FC236}">
                    <a16:creationId xmlns:a16="http://schemas.microsoft.com/office/drawing/2014/main" id="{3AEC4157-8A11-524A-08F0-EAB51DE12691}"/>
                  </a:ext>
                </a:extLst>
              </p:cNvPr>
              <p:cNvSpPr txBox="1"/>
              <p:nvPr/>
            </p:nvSpPr>
            <p:spPr>
              <a:xfrm>
                <a:off x="9808729" y="2863128"/>
                <a:ext cx="22535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4" name="Textfeld 53">
                <a:extLst>
                  <a:ext uri="{FF2B5EF4-FFF2-40B4-BE49-F238E27FC236}">
                    <a16:creationId xmlns:a16="http://schemas.microsoft.com/office/drawing/2014/main" id="{3AEC4157-8A11-524A-08F0-EAB51DE126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8729" y="2863128"/>
                <a:ext cx="22535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C3788FEE-B127-A3BF-E6C5-B5A611E6ACFB}"/>
              </a:ext>
            </a:extLst>
          </p:cNvPr>
          <p:cNvSpPr/>
          <p:nvPr/>
        </p:nvSpPr>
        <p:spPr>
          <a:xfrm rot="5400000">
            <a:off x="4586941" y="1585547"/>
            <a:ext cx="1040160" cy="985736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de-DE" sz="1400" dirty="0" err="1">
                <a:solidFill>
                  <a:schemeClr val="tx1"/>
                </a:solidFill>
              </a:rPr>
              <a:t>MaxPool</a:t>
            </a:r>
            <a:endParaRPr lang="en-GB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357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7" grpId="0"/>
      <p:bldP spid="18" grpId="0"/>
      <p:bldP spid="19" grpId="0"/>
      <p:bldP spid="21" grpId="0"/>
      <p:bldP spid="22" grpId="0"/>
      <p:bldP spid="30" grpId="0" animBg="1"/>
      <p:bldP spid="31" grpId="0" animBg="1"/>
      <p:bldP spid="37" grpId="0"/>
      <p:bldP spid="38" grpId="0"/>
      <p:bldP spid="39" grpId="0" animBg="1"/>
      <p:bldP spid="43" grpId="0" animBg="1"/>
      <p:bldP spid="46" grpId="0" animBg="1"/>
      <p:bldP spid="47" grpId="0" animBg="1"/>
      <p:bldP spid="52" grpId="0" animBg="1"/>
      <p:bldP spid="53" grpId="0"/>
      <p:bldP spid="5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5E3CC-B5EF-F9AA-BD7D-BF296BAE2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VAE - Model Architecture Decoder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12B8BC7D-4656-F902-5706-AFB7A12E9923}"/>
                  </a:ext>
                </a:extLst>
              </p:cNvPr>
              <p:cNvSpPr txBox="1"/>
              <p:nvPr/>
            </p:nvSpPr>
            <p:spPr>
              <a:xfrm>
                <a:off x="699861" y="1506022"/>
                <a:ext cx="11381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∈ 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12B8BC7D-4656-F902-5706-AFB7A12E9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861" y="1506022"/>
                <a:ext cx="1138135" cy="369332"/>
              </a:xfrm>
              <a:prstGeom prst="rect">
                <a:avLst/>
              </a:prstGeom>
              <a:blipFill>
                <a:blip r:embed="rId2"/>
                <a:stretch>
                  <a:fillRect b="-32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8D5CEB9-3334-A4F9-16A5-8A39761B1E07}"/>
                  </a:ext>
                </a:extLst>
              </p:cNvPr>
              <p:cNvSpPr txBox="1"/>
              <p:nvPr/>
            </p:nvSpPr>
            <p:spPr>
              <a:xfrm>
                <a:off x="137277" y="1988619"/>
                <a:ext cx="22633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∈ 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8D5CEB9-3334-A4F9-16A5-8A39761B1E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277" y="1988619"/>
                <a:ext cx="226330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0450876-04E3-82FB-0A48-EC3465E3C4B9}"/>
              </a:ext>
            </a:extLst>
          </p:cNvPr>
          <p:cNvCxnSpPr/>
          <p:nvPr/>
        </p:nvCxnSpPr>
        <p:spPr>
          <a:xfrm>
            <a:off x="2150601" y="1875354"/>
            <a:ext cx="499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D653A11-178D-896D-6DFB-0F5FDED42158}"/>
                  </a:ext>
                </a:extLst>
              </p:cNvPr>
              <p:cNvSpPr txBox="1"/>
              <p:nvPr/>
            </p:nvSpPr>
            <p:spPr>
              <a:xfrm>
                <a:off x="2713186" y="1690688"/>
                <a:ext cx="87527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z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𝑍</m:t>
                        </m:r>
                      </m:sup>
                    </m:sSup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D653A11-178D-896D-6DFB-0F5FDED42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3186" y="1690688"/>
                <a:ext cx="875279" cy="369332"/>
              </a:xfrm>
              <a:prstGeom prst="rect">
                <a:avLst/>
              </a:prstGeom>
              <a:blipFill>
                <a:blip r:embed="rId4"/>
                <a:stretch>
                  <a:fillRect l="-5556" t="-8197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hteck 8">
            <a:extLst>
              <a:ext uri="{FF2B5EF4-FFF2-40B4-BE49-F238E27FC236}">
                <a16:creationId xmlns:a16="http://schemas.microsoft.com/office/drawing/2014/main" id="{3058EA24-B993-D4F1-3AD5-A1E796D2DDA5}"/>
              </a:ext>
            </a:extLst>
          </p:cNvPr>
          <p:cNvSpPr/>
          <p:nvPr/>
        </p:nvSpPr>
        <p:spPr>
          <a:xfrm>
            <a:off x="4032638" y="1590172"/>
            <a:ext cx="1164380" cy="5831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ysClr val="windowText" lastClr="000000"/>
                </a:solidFill>
              </a:rPr>
              <a:t>Upsample</a:t>
            </a:r>
            <a:endParaRPr lang="de-DE" dirty="0">
              <a:solidFill>
                <a:sysClr val="windowText" lastClr="000000"/>
              </a:solidFill>
            </a:endParaRPr>
          </a:p>
          <a:p>
            <a:pPr algn="ctr"/>
            <a:r>
              <a:rPr lang="de-DE" dirty="0">
                <a:solidFill>
                  <a:sysClr val="windowText" lastClr="000000"/>
                </a:solidFill>
              </a:rPr>
              <a:t>Linear</a:t>
            </a:r>
            <a:endParaRPr lang="en-GB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3AA68063-1D4B-5D6E-9611-98527D7E9072}"/>
              </a:ext>
            </a:extLst>
          </p:cNvPr>
          <p:cNvCxnSpPr>
            <a:stCxn id="8" idx="3"/>
          </p:cNvCxnSpPr>
          <p:nvPr/>
        </p:nvCxnSpPr>
        <p:spPr>
          <a:xfrm>
            <a:off x="3588465" y="1875354"/>
            <a:ext cx="325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8701D83-D90A-3F05-8A18-C6148A7A3E21}"/>
              </a:ext>
            </a:extLst>
          </p:cNvPr>
          <p:cNvCxnSpPr/>
          <p:nvPr/>
        </p:nvCxnSpPr>
        <p:spPr>
          <a:xfrm>
            <a:off x="5378891" y="1863799"/>
            <a:ext cx="325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CD8C6EBC-7D3D-EE4D-80FC-C16ABD3FC2DD}"/>
              </a:ext>
            </a:extLst>
          </p:cNvPr>
          <p:cNvSpPr/>
          <p:nvPr/>
        </p:nvSpPr>
        <p:spPr>
          <a:xfrm>
            <a:off x="5919479" y="1588367"/>
            <a:ext cx="1164380" cy="5831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ysClr val="windowText" lastClr="000000"/>
                </a:solidFill>
              </a:rPr>
              <a:t>ResBlock</a:t>
            </a:r>
            <a:endParaRPr lang="en-GB" dirty="0">
              <a:solidFill>
                <a:sysClr val="windowText" lastClr="000000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EBB21E9-408F-7A67-E707-BDCB77832DC4}"/>
              </a:ext>
            </a:extLst>
          </p:cNvPr>
          <p:cNvSpPr/>
          <p:nvPr/>
        </p:nvSpPr>
        <p:spPr>
          <a:xfrm>
            <a:off x="7518514" y="1587634"/>
            <a:ext cx="1164380" cy="5831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ysClr val="windowText" lastClr="000000"/>
                </a:solidFill>
              </a:rPr>
              <a:t>Upsample</a:t>
            </a:r>
            <a:endParaRPr lang="de-DE" dirty="0">
              <a:solidFill>
                <a:sysClr val="windowText" lastClr="000000"/>
              </a:solidFill>
            </a:endParaRPr>
          </a:p>
          <a:p>
            <a:pPr algn="ctr"/>
            <a:r>
              <a:rPr lang="de-DE" dirty="0">
                <a:solidFill>
                  <a:sysClr val="windowText" lastClr="000000"/>
                </a:solidFill>
              </a:rPr>
              <a:t>Linear</a:t>
            </a:r>
            <a:endParaRPr lang="en-GB" dirty="0">
              <a:solidFill>
                <a:sysClr val="windowText" lastClr="000000"/>
              </a:solidFill>
            </a:endParaRP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D55A3BF5-9721-428D-1755-0422750FB97B}"/>
              </a:ext>
            </a:extLst>
          </p:cNvPr>
          <p:cNvCxnSpPr/>
          <p:nvPr/>
        </p:nvCxnSpPr>
        <p:spPr>
          <a:xfrm>
            <a:off x="8860580" y="1863798"/>
            <a:ext cx="325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hteck 16">
            <a:extLst>
              <a:ext uri="{FF2B5EF4-FFF2-40B4-BE49-F238E27FC236}">
                <a16:creationId xmlns:a16="http://schemas.microsoft.com/office/drawing/2014/main" id="{47DE6876-B121-07EF-6CAA-B4772B1B40BF}"/>
              </a:ext>
            </a:extLst>
          </p:cNvPr>
          <p:cNvSpPr/>
          <p:nvPr/>
        </p:nvSpPr>
        <p:spPr>
          <a:xfrm>
            <a:off x="9363959" y="1572241"/>
            <a:ext cx="1164380" cy="5831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ysClr val="windowText" lastClr="000000"/>
                </a:solidFill>
              </a:rPr>
              <a:t>ResBlock</a:t>
            </a:r>
            <a:endParaRPr lang="en-GB" dirty="0">
              <a:solidFill>
                <a:sysClr val="windowText" lastClr="000000"/>
              </a:solidFill>
            </a:endParaRP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74A3E7C1-5FAA-A555-BBB6-D4CBEBE1C5CF}"/>
              </a:ext>
            </a:extLst>
          </p:cNvPr>
          <p:cNvCxnSpPr/>
          <p:nvPr/>
        </p:nvCxnSpPr>
        <p:spPr>
          <a:xfrm>
            <a:off x="7138131" y="1857016"/>
            <a:ext cx="325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999B6482-0292-34B2-F883-8F12481BCD78}"/>
              </a:ext>
            </a:extLst>
          </p:cNvPr>
          <p:cNvGrpSpPr/>
          <p:nvPr/>
        </p:nvGrpSpPr>
        <p:grpSpPr>
          <a:xfrm>
            <a:off x="1085724" y="3716005"/>
            <a:ext cx="434503" cy="419095"/>
            <a:chOff x="995464" y="1690688"/>
            <a:chExt cx="434503" cy="419095"/>
          </a:xfrm>
        </p:grpSpPr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857A8762-B41A-11B2-86EB-74CAC00D4A52}"/>
                </a:ext>
              </a:extLst>
            </p:cNvPr>
            <p:cNvSpPr/>
            <p:nvPr/>
          </p:nvSpPr>
          <p:spPr>
            <a:xfrm>
              <a:off x="1134894" y="1690688"/>
              <a:ext cx="58366" cy="45719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ED35D579-1970-9AA9-C6FF-B4A7CA00FBD4}"/>
                </a:ext>
              </a:extLst>
            </p:cNvPr>
            <p:cNvSpPr/>
            <p:nvPr/>
          </p:nvSpPr>
          <p:spPr>
            <a:xfrm>
              <a:off x="995464" y="1843087"/>
              <a:ext cx="58366" cy="45719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1B7A387F-D849-528F-F3CD-B855B8136455}"/>
                </a:ext>
              </a:extLst>
            </p:cNvPr>
            <p:cNvSpPr/>
            <p:nvPr/>
          </p:nvSpPr>
          <p:spPr>
            <a:xfrm>
              <a:off x="1164077" y="1888806"/>
              <a:ext cx="58366" cy="45719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2EA117C5-056C-E369-540A-9B6DCFDCBFCB}"/>
                </a:ext>
              </a:extLst>
            </p:cNvPr>
            <p:cNvSpPr/>
            <p:nvPr/>
          </p:nvSpPr>
          <p:spPr>
            <a:xfrm>
              <a:off x="1371601" y="1766887"/>
              <a:ext cx="58366" cy="45719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B06F1193-7B22-9653-CCEE-6C19A852BB14}"/>
                </a:ext>
              </a:extLst>
            </p:cNvPr>
            <p:cNvSpPr/>
            <p:nvPr/>
          </p:nvSpPr>
          <p:spPr>
            <a:xfrm>
              <a:off x="1371601" y="1890769"/>
              <a:ext cx="58366" cy="45719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1DA1A4BA-339C-731A-624C-5E48203EDC9B}"/>
                </a:ext>
              </a:extLst>
            </p:cNvPr>
            <p:cNvSpPr/>
            <p:nvPr/>
          </p:nvSpPr>
          <p:spPr>
            <a:xfrm>
              <a:off x="1193260" y="2064064"/>
              <a:ext cx="58366" cy="45719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3C7C7729-6C89-9E57-CCF9-4EADA258C3A3}"/>
                  </a:ext>
                </a:extLst>
              </p:cNvPr>
              <p:cNvSpPr txBox="1"/>
              <p:nvPr/>
            </p:nvSpPr>
            <p:spPr>
              <a:xfrm>
                <a:off x="849018" y="4278992"/>
                <a:ext cx="9857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3C7C7729-6C89-9E57-CCF9-4EADA258C3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018" y="4278992"/>
                <a:ext cx="98573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feld 26">
            <a:extLst>
              <a:ext uri="{FF2B5EF4-FFF2-40B4-BE49-F238E27FC236}">
                <a16:creationId xmlns:a16="http://schemas.microsoft.com/office/drawing/2014/main" id="{42EE2CFA-5C4B-FA9C-FCEC-471D3523FB0E}"/>
              </a:ext>
            </a:extLst>
          </p:cNvPr>
          <p:cNvSpPr txBox="1"/>
          <p:nvPr/>
        </p:nvSpPr>
        <p:spPr>
          <a:xfrm>
            <a:off x="699861" y="4643861"/>
            <a:ext cx="129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Pointcloud</a:t>
            </a:r>
            <a:endParaRPr lang="en-GB" dirty="0"/>
          </a:p>
        </p:txBody>
      </p: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6DDDDFB3-2A1D-EBEB-7F3F-A7DCC4BD62D4}"/>
              </a:ext>
            </a:extLst>
          </p:cNvPr>
          <p:cNvCxnSpPr>
            <a:cxnSpLocks/>
          </p:cNvCxnSpPr>
          <p:nvPr/>
        </p:nvCxnSpPr>
        <p:spPr>
          <a:xfrm>
            <a:off x="10604409" y="1857016"/>
            <a:ext cx="3881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F3662E5-AD6D-B63B-5325-39155DC706D1}"/>
              </a:ext>
            </a:extLst>
          </p:cNvPr>
          <p:cNvCxnSpPr/>
          <p:nvPr/>
        </p:nvCxnSpPr>
        <p:spPr>
          <a:xfrm>
            <a:off x="10985957" y="1857016"/>
            <a:ext cx="0" cy="80724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6BFED5A4-4135-B95D-1506-D1E76C11E7E7}"/>
              </a:ext>
            </a:extLst>
          </p:cNvPr>
          <p:cNvCxnSpPr/>
          <p:nvPr/>
        </p:nvCxnSpPr>
        <p:spPr>
          <a:xfrm flipH="1">
            <a:off x="1341886" y="2664259"/>
            <a:ext cx="965064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AF2955CE-4CE6-2796-2C5E-F9000A78DBB5}"/>
              </a:ext>
            </a:extLst>
          </p:cNvPr>
          <p:cNvCxnSpPr/>
          <p:nvPr/>
        </p:nvCxnSpPr>
        <p:spPr>
          <a:xfrm>
            <a:off x="1341886" y="2664259"/>
            <a:ext cx="0" cy="764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D30C3D9C-4B44-0EA5-5EB5-E66A6F0E711F}"/>
              </a:ext>
            </a:extLst>
          </p:cNvPr>
          <p:cNvSpPr/>
          <p:nvPr/>
        </p:nvSpPr>
        <p:spPr>
          <a:xfrm>
            <a:off x="335499" y="1427517"/>
            <a:ext cx="11262251" cy="4262814"/>
          </a:xfrm>
          <a:prstGeom prst="rect">
            <a:avLst/>
          </a:prstGeom>
          <a:noFill/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EDF4C35E-44AC-3732-75FA-8723C0439129}"/>
              </a:ext>
            </a:extLst>
          </p:cNvPr>
          <p:cNvSpPr txBox="1"/>
          <p:nvPr/>
        </p:nvSpPr>
        <p:spPr>
          <a:xfrm>
            <a:off x="9484285" y="4882955"/>
            <a:ext cx="20881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Decoder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248904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  <p:bldP spid="9" grpId="0" animBg="1"/>
      <p:bldP spid="14" grpId="0" animBg="1"/>
      <p:bldP spid="15" grpId="0" animBg="1"/>
      <p:bldP spid="17" grpId="0" animBg="1"/>
      <p:bldP spid="26" grpId="0"/>
      <p:bldP spid="27" grpId="0"/>
      <p:bldP spid="37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2D095F-4522-0822-2F19-9AEC13B28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Training </a:t>
            </a:r>
            <a:r>
              <a:rPr lang="de-DE" dirty="0" err="1"/>
              <a:t>with</a:t>
            </a:r>
            <a:r>
              <a:rPr lang="de-DE" dirty="0"/>
              <a:t> 1000 </a:t>
            </a:r>
            <a:r>
              <a:rPr lang="de-DE" dirty="0" err="1"/>
              <a:t>Epochs</a:t>
            </a:r>
            <a:endParaRPr lang="en-GB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E537A93-0D7B-D203-7769-A6BFD2F096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107" y="1690688"/>
            <a:ext cx="5420481" cy="4305901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EB1E90A-2641-9208-E1FD-FE4908F030EB}"/>
              </a:ext>
            </a:extLst>
          </p:cNvPr>
          <p:cNvCxnSpPr/>
          <p:nvPr/>
        </p:nvCxnSpPr>
        <p:spPr>
          <a:xfrm flipV="1">
            <a:off x="6038987" y="4960127"/>
            <a:ext cx="1848535" cy="3091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3376507D-FC04-2749-5D61-24F3A874BD4C}"/>
              </a:ext>
            </a:extLst>
          </p:cNvPr>
          <p:cNvSpPr txBox="1"/>
          <p:nvPr/>
        </p:nvSpPr>
        <p:spPr>
          <a:xfrm>
            <a:off x="7988460" y="4514554"/>
            <a:ext cx="2319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Low </a:t>
            </a:r>
            <a:r>
              <a:rPr lang="de-DE" dirty="0" err="1"/>
              <a:t>chamfer</a:t>
            </a:r>
            <a:r>
              <a:rPr lang="de-DE" dirty="0"/>
              <a:t> and </a:t>
            </a:r>
            <a:r>
              <a:rPr lang="de-DE" dirty="0" err="1"/>
              <a:t>vae</a:t>
            </a:r>
            <a:r>
              <a:rPr lang="de-DE" dirty="0"/>
              <a:t> </a:t>
            </a:r>
            <a:r>
              <a:rPr lang="de-DE" dirty="0" err="1"/>
              <a:t>loss</a:t>
            </a:r>
            <a:r>
              <a:rPr lang="de-DE" dirty="0"/>
              <a:t> </a:t>
            </a:r>
          </a:p>
          <a:p>
            <a:r>
              <a:rPr lang="de-DE" dirty="0"/>
              <a:t>also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stable</a:t>
            </a:r>
            <a:endParaRPr lang="en-GB" dirty="0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2606B902-6AC2-34C7-7A82-A240F8CFD97D}"/>
              </a:ext>
            </a:extLst>
          </p:cNvPr>
          <p:cNvCxnSpPr/>
          <p:nvPr/>
        </p:nvCxnSpPr>
        <p:spPr>
          <a:xfrm flipV="1">
            <a:off x="5953468" y="3065542"/>
            <a:ext cx="2197191" cy="8091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3A11EBAB-C37A-CBE2-5C48-5392FD98DBA0}"/>
              </a:ext>
            </a:extLst>
          </p:cNvPr>
          <p:cNvSpPr txBox="1"/>
          <p:nvPr/>
        </p:nvSpPr>
        <p:spPr>
          <a:xfrm>
            <a:off x="8150659" y="2637122"/>
            <a:ext cx="2657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Keeps</a:t>
            </a:r>
            <a:r>
              <a:rPr lang="de-DE" dirty="0"/>
              <a:t> </a:t>
            </a:r>
            <a:r>
              <a:rPr lang="de-DE" dirty="0" err="1"/>
              <a:t>decreasing</a:t>
            </a:r>
            <a:r>
              <a:rPr lang="de-DE" dirty="0"/>
              <a:t>, </a:t>
            </a:r>
            <a:r>
              <a:rPr lang="de-DE" dirty="0" err="1"/>
              <a:t>convergence</a:t>
            </a:r>
            <a:r>
              <a:rPr lang="de-DE" dirty="0"/>
              <a:t> not </a:t>
            </a:r>
            <a:r>
              <a:rPr lang="de-DE" dirty="0" err="1"/>
              <a:t>reached</a:t>
            </a:r>
            <a:endParaRPr lang="en-GB" dirty="0"/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A47994D-AF25-B32C-3DCE-814A8593EE1D}"/>
              </a:ext>
            </a:extLst>
          </p:cNvPr>
          <p:cNvCxnSpPr>
            <a:cxnSpLocks/>
            <a:stCxn id="14" idx="1"/>
          </p:cNvCxnSpPr>
          <p:nvPr/>
        </p:nvCxnSpPr>
        <p:spPr>
          <a:xfrm flipH="1">
            <a:off x="6038987" y="3752166"/>
            <a:ext cx="2249819" cy="141189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57C8C27A-E1D0-A5C9-8AB9-08565AFE8FF6}"/>
              </a:ext>
            </a:extLst>
          </p:cNvPr>
          <p:cNvSpPr txBox="1"/>
          <p:nvPr/>
        </p:nvSpPr>
        <p:spPr>
          <a:xfrm>
            <a:off x="8288806" y="3429000"/>
            <a:ext cx="17235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While </a:t>
            </a:r>
            <a:r>
              <a:rPr lang="de-DE" dirty="0" err="1"/>
              <a:t>vae</a:t>
            </a:r>
            <a:r>
              <a:rPr lang="de-DE" dirty="0"/>
              <a:t> </a:t>
            </a:r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stays</a:t>
            </a:r>
            <a:r>
              <a:rPr lang="de-DE" dirty="0"/>
              <a:t> </a:t>
            </a:r>
            <a:r>
              <a:rPr lang="de-DE" dirty="0" err="1"/>
              <a:t>low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5957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F9DFD8-94CF-D2BC-D910-949C074D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Training </a:t>
            </a:r>
            <a:r>
              <a:rPr lang="de-DE" dirty="0" err="1"/>
              <a:t>with</a:t>
            </a:r>
            <a:r>
              <a:rPr lang="de-DE" dirty="0"/>
              <a:t> 5000 </a:t>
            </a:r>
            <a:r>
              <a:rPr lang="de-DE" dirty="0" err="1"/>
              <a:t>Epochs</a:t>
            </a:r>
            <a:endParaRPr lang="en-GB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FE7E4996-47E3-622C-0884-6190C2C649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117" y="1515590"/>
            <a:ext cx="5801784" cy="4351338"/>
          </a:xfrm>
          <a:prstGeom prst="rect">
            <a:avLst/>
          </a:prstGeom>
        </p:spPr>
      </p:pic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8D610D03-83C3-A8E8-190C-85870CC415A8}"/>
              </a:ext>
            </a:extLst>
          </p:cNvPr>
          <p:cNvCxnSpPr>
            <a:cxnSpLocks/>
          </p:cNvCxnSpPr>
          <p:nvPr/>
        </p:nvCxnSpPr>
        <p:spPr>
          <a:xfrm flipV="1">
            <a:off x="5447489" y="3190672"/>
            <a:ext cx="1426724" cy="121271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8BABF74D-CBB0-E4F6-7AD0-236A5B103210}"/>
              </a:ext>
            </a:extLst>
          </p:cNvPr>
          <p:cNvSpPr txBox="1"/>
          <p:nvPr/>
        </p:nvSpPr>
        <p:spPr>
          <a:xfrm>
            <a:off x="6965005" y="2834310"/>
            <a:ext cx="2444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KLD Loss </a:t>
            </a:r>
            <a:r>
              <a:rPr lang="de-DE" dirty="0" err="1"/>
              <a:t>saturating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63403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8BD0D7-0B36-C6AD-03E0-646407AD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Future Research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6252DA-9753-B50A-60B9-3662B67E7C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Investigate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quality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latent </a:t>
                </a:r>
                <a:r>
                  <a:rPr lang="de-DE" dirty="0" err="1"/>
                  <a:t>space</a:t>
                </a:r>
                <a:endParaRPr lang="de-DE" dirty="0"/>
              </a:p>
              <a:p>
                <a:pPr lvl="1"/>
                <a:r>
                  <a:rPr lang="de-DE" dirty="0"/>
                  <a:t>Reconstruction Quality </a:t>
                </a:r>
                <a:r>
                  <a:rPr lang="de-DE" dirty="0" err="1"/>
                  <a:t>from</a:t>
                </a:r>
                <a:r>
                  <a:rPr lang="de-DE" dirty="0"/>
                  <a:t> latent </a:t>
                </a:r>
                <a:r>
                  <a:rPr lang="de-DE" dirty="0" err="1"/>
                  <a:t>space</a:t>
                </a:r>
                <a:r>
                  <a:rPr lang="de-DE" dirty="0"/>
                  <a:t> </a:t>
                </a:r>
                <a:r>
                  <a:rPr lang="de-DE" dirty="0" err="1"/>
                  <a:t>interpolation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Visualize latent Space with PCA</a:t>
                </a:r>
              </a:p>
              <a:p>
                <a:pPr lvl="1"/>
                <a:r>
                  <a:rPr lang="en-GB" dirty="0"/>
                  <a:t>Is the latent space gaussian, is it continuous, what is the scale of the latent space; Latent diffusion needs scale one</a:t>
                </a:r>
              </a:p>
              <a:p>
                <a:r>
                  <a:rPr lang="en-GB" dirty="0"/>
                  <a:t>Try out more compression, i.e. experiment with different latent space dimensions</a:t>
                </a:r>
              </a:p>
              <a:p>
                <a:r>
                  <a:rPr lang="en-GB" dirty="0"/>
                  <a:t>Try out lower and higher KL-Annealing</a:t>
                </a:r>
              </a:p>
              <a:p>
                <a:r>
                  <a:rPr lang="en-GB" dirty="0"/>
                  <a:t>Perform Diffusion in the latent space of the pretrained VAE 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6252DA-9753-B50A-60B9-3662B67E7C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9641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451</Words>
  <Application>Microsoft Office PowerPoint</Application>
  <PresentationFormat>Breitbild</PresentationFormat>
  <Paragraphs>161</Paragraphs>
  <Slides>14</Slides>
  <Notes>0</Notes>
  <HiddenSlides>6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Office</vt:lpstr>
      <vt:lpstr>Generating Point Clouds from Grasps Milestones</vt:lpstr>
      <vt:lpstr>Problem Definition</vt:lpstr>
      <vt:lpstr>Diffusion-Autoencoder</vt:lpstr>
      <vt:lpstr>Autoencoder Predicted Point Clouds 256 Points end-to-end</vt:lpstr>
      <vt:lpstr>Autoencoder Predicted Point Clouds 2048 Points end-to-end</vt:lpstr>
      <vt:lpstr>Autoencoder with Pretrained Encoder</vt:lpstr>
      <vt:lpstr>VAE Architecture</vt:lpstr>
      <vt:lpstr>Comparing predicted vs target PCs</vt:lpstr>
      <vt:lpstr>Outlook</vt:lpstr>
      <vt:lpstr>VAE-Model Architecture Encoder</vt:lpstr>
      <vt:lpstr>VAE - Model Architecture Decoder</vt:lpstr>
      <vt:lpstr>Training with 1000 Epochs</vt:lpstr>
      <vt:lpstr>Training with 5000 Epochs</vt:lpstr>
      <vt:lpstr>Future Research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Yankacar</dc:creator>
  <cp:lastModifiedBy>Christian Yankacar</cp:lastModifiedBy>
  <cp:revision>5</cp:revision>
  <dcterms:created xsi:type="dcterms:W3CDTF">2026-05-20T12:00:15Z</dcterms:created>
  <dcterms:modified xsi:type="dcterms:W3CDTF">2026-05-27T14:23:34Z</dcterms:modified>
</cp:coreProperties>
</file>