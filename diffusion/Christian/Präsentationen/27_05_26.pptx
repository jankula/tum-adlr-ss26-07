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57" r:id="rId8"/>
    <p:sldId id="259" r:id="rId9"/>
    <p:sldId id="258" r:id="rId10"/>
    <p:sldId id="262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B1A61-29DC-BBC7-73E3-F67EA344F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86F2E9-626D-6F99-29D8-D0482A73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F51F99-282D-B4B3-7AE8-35931EA2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5641E4-FB42-B0A0-DB54-B6DD5F36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A66405-C2CE-4311-B1DD-38871B25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919E9-BFFC-9844-7BED-0F8E2D61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1ECCEB-2110-9AF1-102E-BA6011F7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68BC0-C70F-A199-66B8-0C700A24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3AB00D-3F7F-3D85-F0E5-B7B6942A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A5B6A-116D-CA1C-0506-FCBF4874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57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BC74-CF8B-873E-F9AF-DDB74989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1B106-315B-C1D5-CCD4-0EFB1352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31D9C-8778-26D6-D2D5-C5D2CC59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26C9F-E949-B20A-F25C-86E8DF2E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17D27-C430-C63D-223C-5A970B0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DC783-C747-97A2-D7A1-39F0E522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F5EA2E-1A46-92F7-8F47-667AE3C07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BB0F50-A40B-0311-8728-DB6242909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CEBD8E-7151-1C68-0FBE-94BB51B6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4D4A6-7964-9AFF-71FA-C6E0AA89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33A049-228A-B515-5303-7AD558FA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60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AE506-70E2-9DE9-5CD0-385BACA5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D68AFF-BB68-B109-44AE-61D27354F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5CEB0B-272C-0F24-1992-128A69443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C2F7A9-E816-E938-3087-F6246BFE9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AFCB4E-7C5C-5E05-D4E8-330312D3C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96476E-D62F-63BC-C7CC-C1B86904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FE8A4EE-339F-9C54-9CE3-F511CCFC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C51C54-56CC-79F0-9C74-8CED6DF6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4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42A17-0906-CE4B-A478-39497787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6A5224-0257-C46D-3D1F-84E6C95C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6A52D3-C52D-FBE3-384B-E31FF88B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44CBEE-2550-97EC-940B-71621E41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96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4BF128-92BC-D72A-5C62-B9EC1A93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88D2AB-B224-84AE-BC81-9B107F51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AEAFAB-6408-BCF5-23E4-DADD5C98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12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B0121-9751-D8F4-E9ED-861FDAAA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C4D95-EDE2-DBE8-4951-EC093E7E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A97221-BD18-F5BE-AE4D-49434E185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87DC69-B96B-1BC1-7539-5A33F148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D871D5-96DA-4BF7-328B-5803B085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4C36E-29A2-3092-B70A-40E40C55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71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299A1-47AE-8E2C-05D0-EED3CA18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C9B98-FFE9-FF25-BDAA-000E6ED2D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765364-33E2-ACBD-A21C-F48039B26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5D0C77-F2FB-90FE-C1BB-0262CB4C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B76C2-CE06-D7D7-1970-B9039770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D1494B-041E-319F-380E-CD07A732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59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CE25D-5FE7-CA29-19A4-7853518B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4EE128-7511-BE1E-E69B-60F1F92F1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D35F7F-C347-2BAE-F817-09004F5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BDAD4-AAC5-6DC2-DAB0-4C1E4CE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06A497-0AA1-EDC5-23FC-1281C029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3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E0A92F-E62B-25B0-4A42-938DF9373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19321D-FB7E-B4A8-A6A4-F420D47EE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2B367-3089-F4C8-9341-84B5CAB6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218348-85B0-774A-FA52-AC7F3BD8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A8833-DBEE-6145-50C1-DB190FC6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85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D94B06-EB19-8286-31AF-650BCE76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A042B6-D55F-B3F5-FD74-9FAD758B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C71FD-8A2C-EB47-B520-892630EEE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920C0C-BB28-EEFC-D799-B96DADC5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30703-C971-2AB5-C89E-1180F2F0F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6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DC881-8A51-8A72-54C7-E097E4F96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VAE</a:t>
            </a:r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F7648D-4F4B-027B-D9EA-42CF04240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Pointnet</a:t>
            </a:r>
            <a:r>
              <a:rPr lang="de-DE" dirty="0"/>
              <a:t>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4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C0E2E-121C-F346-90BD-516142E0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292"/>
          </a:xfrm>
        </p:spPr>
        <p:txBody>
          <a:bodyPr>
            <a:normAutofit/>
          </a:bodyPr>
          <a:lstStyle/>
          <a:p>
            <a:r>
              <a:rPr lang="de-DE" sz="3200" dirty="0"/>
              <a:t>Problem Definition</a:t>
            </a:r>
            <a:endParaRPr lang="en-GB" sz="3200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5DB780AD-D33B-3AD8-209A-942CB3D33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302" y="1540617"/>
            <a:ext cx="2157067" cy="126581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C3E170F-0CB5-FF49-B711-6C794A1D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826" y="1554949"/>
            <a:ext cx="2136163" cy="11872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DBAD5DF-D5BA-F91A-EC15-D94114CDF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95" y="1465084"/>
            <a:ext cx="1381265" cy="146401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24DB17C-B73A-E852-9583-5AABB46BB662}"/>
              </a:ext>
            </a:extLst>
          </p:cNvPr>
          <p:cNvSpPr txBox="1"/>
          <p:nvPr/>
        </p:nvSpPr>
        <p:spPr>
          <a:xfrm>
            <a:off x="3861819" y="2880605"/>
            <a:ext cx="856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Object</a:t>
            </a:r>
            <a:r>
              <a:rPr lang="de-DE" dirty="0"/>
              <a:t> Mesh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0D61C4-4379-6E91-8E82-89BB7157A29F}"/>
                  </a:ext>
                </a:extLst>
              </p:cNvPr>
              <p:cNvSpPr txBox="1"/>
              <p:nvPr/>
            </p:nvSpPr>
            <p:spPr>
              <a:xfrm>
                <a:off x="1109764" y="3259474"/>
                <a:ext cx="14265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0D61C4-4379-6E91-8E82-89BB7157A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764" y="3259474"/>
                <a:ext cx="1426596" cy="669992"/>
              </a:xfrm>
              <a:prstGeom prst="rect">
                <a:avLst/>
              </a:prstGeom>
              <a:blipFill>
                <a:blip r:embed="rId5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5213E9E-A8BF-CCE1-969E-6F4EDD44AF94}"/>
                  </a:ext>
                </a:extLst>
              </p:cNvPr>
              <p:cNvSpPr txBox="1"/>
              <p:nvPr/>
            </p:nvSpPr>
            <p:spPr>
              <a:xfrm>
                <a:off x="2460289" y="1827759"/>
                <a:ext cx="822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5213E9E-A8BF-CCE1-969E-6F4EDD44A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289" y="1827759"/>
                <a:ext cx="8229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005F1B4A-6C74-982F-D1B1-726B00AE32F2}"/>
              </a:ext>
            </a:extLst>
          </p:cNvPr>
          <p:cNvSpPr txBox="1"/>
          <p:nvPr/>
        </p:nvSpPr>
        <p:spPr>
          <a:xfrm>
            <a:off x="1394950" y="292420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Grasp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F52962A-CFA7-15A3-9A76-E2A213D9F055}"/>
              </a:ext>
            </a:extLst>
          </p:cNvPr>
          <p:cNvSpPr/>
          <p:nvPr/>
        </p:nvSpPr>
        <p:spPr>
          <a:xfrm>
            <a:off x="901429" y="1102469"/>
            <a:ext cx="4728049" cy="2789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8F888E-4962-E151-C007-7BD294E668B7}"/>
              </a:ext>
            </a:extLst>
          </p:cNvPr>
          <p:cNvSpPr txBox="1"/>
          <p:nvPr/>
        </p:nvSpPr>
        <p:spPr>
          <a:xfrm>
            <a:off x="4380581" y="1062090"/>
            <a:ext cx="121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Given Data</a:t>
            </a:r>
            <a:endParaRPr lang="en-GB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AF699F8-B71F-9B15-2567-DA515B959365}"/>
              </a:ext>
            </a:extLst>
          </p:cNvPr>
          <p:cNvCxnSpPr>
            <a:cxnSpLocks/>
          </p:cNvCxnSpPr>
          <p:nvPr/>
        </p:nvCxnSpPr>
        <p:spPr>
          <a:xfrm>
            <a:off x="5681980" y="2074424"/>
            <a:ext cx="1436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5CA163D-A2CB-670C-7465-C8544C490193}"/>
              </a:ext>
            </a:extLst>
          </p:cNvPr>
          <p:cNvSpPr txBox="1"/>
          <p:nvPr/>
        </p:nvSpPr>
        <p:spPr>
          <a:xfrm>
            <a:off x="5629478" y="1770715"/>
            <a:ext cx="1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Sample Point Cloud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018209C-354E-7962-2D87-264FB7AA1BDB}"/>
                  </a:ext>
                </a:extLst>
              </p:cNvPr>
              <p:cNvSpPr txBox="1"/>
              <p:nvPr/>
            </p:nvSpPr>
            <p:spPr>
              <a:xfrm>
                <a:off x="9352196" y="1889758"/>
                <a:ext cx="822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018209C-354E-7962-2D87-264FB7AA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196" y="1889758"/>
                <a:ext cx="8229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fik 20">
            <a:extLst>
              <a:ext uri="{FF2B5EF4-FFF2-40B4-BE49-F238E27FC236}">
                <a16:creationId xmlns:a16="http://schemas.microsoft.com/office/drawing/2014/main" id="{5DF8ED39-DDC8-DAC6-A01D-23A0EA768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413" y="1416592"/>
            <a:ext cx="1381265" cy="1464013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0B1E8E9-1F1B-9BAE-D7CD-F826A0F1B1D3}"/>
              </a:ext>
            </a:extLst>
          </p:cNvPr>
          <p:cNvSpPr/>
          <p:nvPr/>
        </p:nvSpPr>
        <p:spPr>
          <a:xfrm>
            <a:off x="7145392" y="1102468"/>
            <a:ext cx="4573195" cy="277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7E28C296-825C-1D04-0B61-98215FBE3245}"/>
                  </a:ext>
                </a:extLst>
              </p:cNvPr>
              <p:cNvSpPr txBox="1"/>
              <p:nvPr/>
            </p:nvSpPr>
            <p:spPr>
              <a:xfrm>
                <a:off x="7566454" y="2806431"/>
                <a:ext cx="1594905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dirty="0"/>
                  <a:t>Point Cloud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7E28C296-825C-1D04-0B61-98215FBE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454" y="2806431"/>
                <a:ext cx="1594905" cy="669992"/>
              </a:xfrm>
              <a:prstGeom prst="rect">
                <a:avLst/>
              </a:prstGeom>
              <a:blipFill>
                <a:blip r:embed="rId8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B338D22-375A-CCBE-7E46-13BA6D3A17C8}"/>
                  </a:ext>
                </a:extLst>
              </p:cNvPr>
              <p:cNvSpPr txBox="1"/>
              <p:nvPr/>
            </p:nvSpPr>
            <p:spPr>
              <a:xfrm>
                <a:off x="10201537" y="3095757"/>
                <a:ext cx="14265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B338D22-375A-CCBE-7E46-13BA6D3A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537" y="3095757"/>
                <a:ext cx="1426596" cy="669992"/>
              </a:xfrm>
              <a:prstGeom prst="rect">
                <a:avLst/>
              </a:prstGeom>
              <a:blipFill>
                <a:blip r:embed="rId9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feld 24">
            <a:extLst>
              <a:ext uri="{FF2B5EF4-FFF2-40B4-BE49-F238E27FC236}">
                <a16:creationId xmlns:a16="http://schemas.microsoft.com/office/drawing/2014/main" id="{6BF96B91-2B34-D3F5-4DA8-C614134EA9C7}"/>
              </a:ext>
            </a:extLst>
          </p:cNvPr>
          <p:cNvSpPr txBox="1"/>
          <p:nvPr/>
        </p:nvSpPr>
        <p:spPr>
          <a:xfrm>
            <a:off x="10486818" y="2806431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Grasp</a:t>
            </a:r>
            <a:endParaRPr lang="en-GB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BF83B91-AADC-88DA-07AA-63B4BC43244D}"/>
              </a:ext>
            </a:extLst>
          </p:cNvPr>
          <p:cNvSpPr txBox="1"/>
          <p:nvPr/>
        </p:nvSpPr>
        <p:spPr>
          <a:xfrm>
            <a:off x="10312899" y="1072186"/>
            <a:ext cx="143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Training Data</a:t>
            </a:r>
            <a:endParaRPr lang="en-GB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65F8A20-0DA5-3A93-ACCA-802BA0993583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431989" y="3880659"/>
            <a:ext cx="1" cy="3348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06F5751-0B78-2790-DA68-6538B08DE42C}"/>
              </a:ext>
            </a:extLst>
          </p:cNvPr>
          <p:cNvCxnSpPr>
            <a:cxnSpLocks/>
          </p:cNvCxnSpPr>
          <p:nvPr/>
        </p:nvCxnSpPr>
        <p:spPr>
          <a:xfrm flipH="1">
            <a:off x="3599917" y="4215468"/>
            <a:ext cx="58320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065FEED-8269-B148-5512-3679A83D6D55}"/>
              </a:ext>
            </a:extLst>
          </p:cNvPr>
          <p:cNvCxnSpPr>
            <a:cxnSpLocks/>
          </p:cNvCxnSpPr>
          <p:nvPr/>
        </p:nvCxnSpPr>
        <p:spPr>
          <a:xfrm>
            <a:off x="3599917" y="4215468"/>
            <a:ext cx="0" cy="6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C1DB41A3-2E35-265D-A163-9CDA104244D0}"/>
              </a:ext>
            </a:extLst>
          </p:cNvPr>
          <p:cNvSpPr/>
          <p:nvPr/>
        </p:nvSpPr>
        <p:spPr>
          <a:xfrm>
            <a:off x="2605455" y="5033273"/>
            <a:ext cx="2127114" cy="8214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Diffusion Model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A60E860-C645-22B2-5AAC-B6BBEDB0A651}"/>
              </a:ext>
            </a:extLst>
          </p:cNvPr>
          <p:cNvCxnSpPr>
            <a:cxnSpLocks/>
          </p:cNvCxnSpPr>
          <p:nvPr/>
        </p:nvCxnSpPr>
        <p:spPr>
          <a:xfrm>
            <a:off x="4801839" y="5423198"/>
            <a:ext cx="566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Grafik 37">
            <a:extLst>
              <a:ext uri="{FF2B5EF4-FFF2-40B4-BE49-F238E27FC236}">
                <a16:creationId xmlns:a16="http://schemas.microsoft.com/office/drawing/2014/main" id="{AAC3E684-9CF5-6FC2-47DD-21590378F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72" y="4898102"/>
            <a:ext cx="990835" cy="1050193"/>
          </a:xfrm>
          <a:prstGeom prst="rect">
            <a:avLst/>
          </a:prstGeom>
        </p:spPr>
      </p:pic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EFAF8CF-AF71-BC2C-36C7-1A2833EF557F}"/>
              </a:ext>
            </a:extLst>
          </p:cNvPr>
          <p:cNvCxnSpPr/>
          <p:nvPr/>
        </p:nvCxnSpPr>
        <p:spPr>
          <a:xfrm>
            <a:off x="2016303" y="5396605"/>
            <a:ext cx="46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Grafik 45">
            <a:extLst>
              <a:ext uri="{FF2B5EF4-FFF2-40B4-BE49-F238E27FC236}">
                <a16:creationId xmlns:a16="http://schemas.microsoft.com/office/drawing/2014/main" id="{3F401409-F05D-E76F-42A9-2BC3DFC5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72" y="4869804"/>
            <a:ext cx="2136163" cy="1187298"/>
          </a:xfrm>
          <a:prstGeom prst="rect">
            <a:avLst/>
          </a:prstGeom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3A532FE-13D4-C55E-BE52-93D8D86CCFCD}"/>
              </a:ext>
            </a:extLst>
          </p:cNvPr>
          <p:cNvCxnSpPr/>
          <p:nvPr/>
        </p:nvCxnSpPr>
        <p:spPr>
          <a:xfrm>
            <a:off x="8242703" y="5471973"/>
            <a:ext cx="849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Inhaltsplatzhalter 10">
            <a:extLst>
              <a:ext uri="{FF2B5EF4-FFF2-40B4-BE49-F238E27FC236}">
                <a16:creationId xmlns:a16="http://schemas.microsoft.com/office/drawing/2014/main" id="{95A10E97-E1CF-C9C6-A6EF-4C3BD6772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681" y="4818028"/>
            <a:ext cx="2157067" cy="1265814"/>
          </a:xfrm>
          <a:prstGeom prst="rect">
            <a:avLst/>
          </a:prstGeom>
        </p:spPr>
      </p:pic>
      <p:sp>
        <p:nvSpPr>
          <p:cNvPr id="50" name="Rechteck 49">
            <a:extLst>
              <a:ext uri="{FF2B5EF4-FFF2-40B4-BE49-F238E27FC236}">
                <a16:creationId xmlns:a16="http://schemas.microsoft.com/office/drawing/2014/main" id="{00DA87A1-EC69-71D5-5A66-06CEBEE18B00}"/>
              </a:ext>
            </a:extLst>
          </p:cNvPr>
          <p:cNvSpPr/>
          <p:nvPr/>
        </p:nvSpPr>
        <p:spPr>
          <a:xfrm>
            <a:off x="729760" y="4545806"/>
            <a:ext cx="7166040" cy="1796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5E9FA7B-31FF-1BA5-524C-1856835F5098}"/>
              </a:ext>
            </a:extLst>
          </p:cNvPr>
          <p:cNvSpPr txBox="1"/>
          <p:nvPr/>
        </p:nvSpPr>
        <p:spPr>
          <a:xfrm>
            <a:off x="5604121" y="4480686"/>
            <a:ext cx="242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Deep Learning Pipeline</a:t>
            </a:r>
            <a:endParaRPr lang="en-GB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4830282-5D30-2B82-1343-A4636FA8DF68}"/>
              </a:ext>
            </a:extLst>
          </p:cNvPr>
          <p:cNvSpPr txBox="1"/>
          <p:nvPr/>
        </p:nvSpPr>
        <p:spPr>
          <a:xfrm>
            <a:off x="7894063" y="5093146"/>
            <a:ext cx="165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Postprocessing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27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75F22-1CD8-C3B7-9588-2D0C52F1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2441"/>
          </a:xfrm>
        </p:spPr>
        <p:txBody>
          <a:bodyPr>
            <a:normAutofit/>
          </a:bodyPr>
          <a:lstStyle/>
          <a:p>
            <a:r>
              <a:rPr lang="de-DE" sz="3200" dirty="0"/>
              <a:t>Diffusion-Autoencoder</a:t>
            </a:r>
            <a:endParaRPr lang="en-GB" sz="3200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30D6EDF0-0A4E-DE1F-B365-F528D220E3B8}"/>
              </a:ext>
            </a:extLst>
          </p:cNvPr>
          <p:cNvSpPr/>
          <p:nvPr/>
        </p:nvSpPr>
        <p:spPr>
          <a:xfrm rot="5400000">
            <a:off x="935481" y="961737"/>
            <a:ext cx="843064" cy="1566153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Pointnet</a:t>
            </a:r>
            <a:r>
              <a:rPr lang="de-DE" dirty="0">
                <a:solidFill>
                  <a:schemeClr val="tx1"/>
                </a:solidFill>
              </a:rPr>
              <a:t> Encoder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E749175-C9FE-752B-98E8-07BCE1A14A52}"/>
              </a:ext>
            </a:extLst>
          </p:cNvPr>
          <p:cNvCxnSpPr/>
          <p:nvPr/>
        </p:nvCxnSpPr>
        <p:spPr>
          <a:xfrm>
            <a:off x="2237366" y="1611868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F05B317-97CE-4698-87F6-441E2B96661D}"/>
                  </a:ext>
                </a:extLst>
              </p:cNvPr>
              <p:cNvSpPr txBox="1"/>
              <p:nvPr/>
            </p:nvSpPr>
            <p:spPr>
              <a:xfrm>
                <a:off x="2697809" y="1388451"/>
                <a:ext cx="862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F05B317-97CE-4698-87F6-441E2B966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809" y="1388451"/>
                <a:ext cx="862519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EF95E58-C492-7F5F-B5BA-D10BF8157B00}"/>
              </a:ext>
            </a:extLst>
          </p:cNvPr>
          <p:cNvCxnSpPr/>
          <p:nvPr/>
        </p:nvCxnSpPr>
        <p:spPr>
          <a:xfrm>
            <a:off x="2237366" y="189397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F1DAE32-6E80-44DE-4596-4E4A7ECFE18E}"/>
                  </a:ext>
                </a:extLst>
              </p:cNvPr>
              <p:cNvSpPr txBox="1"/>
              <p:nvPr/>
            </p:nvSpPr>
            <p:spPr>
              <a:xfrm>
                <a:off x="2697808" y="1696786"/>
                <a:ext cx="86251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F1DAE32-6E80-44DE-4596-4E4A7ECFE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808" y="1696786"/>
                <a:ext cx="862519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281B240-EF8D-1E05-7CEC-0BB48855541B}"/>
              </a:ext>
            </a:extLst>
          </p:cNvPr>
          <p:cNvCxnSpPr>
            <a:cxnSpLocks/>
          </p:cNvCxnSpPr>
          <p:nvPr/>
        </p:nvCxnSpPr>
        <p:spPr>
          <a:xfrm>
            <a:off x="3333346" y="1727643"/>
            <a:ext cx="1232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3872BC2-0874-E3FD-EF08-7A163D5F9805}"/>
              </a:ext>
            </a:extLst>
          </p:cNvPr>
          <p:cNvSpPr txBox="1"/>
          <p:nvPr/>
        </p:nvSpPr>
        <p:spPr>
          <a:xfrm>
            <a:off x="3247417" y="1388451"/>
            <a:ext cx="127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Reparame-trization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E6BF1BE-5F7D-B5E3-8E6E-0F37418731CA}"/>
                  </a:ext>
                </a:extLst>
              </p:cNvPr>
              <p:cNvSpPr txBox="1"/>
              <p:nvPr/>
            </p:nvSpPr>
            <p:spPr>
              <a:xfrm>
                <a:off x="4382315" y="1524638"/>
                <a:ext cx="862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E6BF1BE-5F7D-B5E3-8E6E-0F3741873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315" y="1524638"/>
                <a:ext cx="8625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B40EB3B-4F46-A644-E888-9BCC7EB40C3C}"/>
                  </a:ext>
                </a:extLst>
              </p:cNvPr>
              <p:cNvSpPr txBox="1"/>
              <p:nvPr/>
            </p:nvSpPr>
            <p:spPr>
              <a:xfrm>
                <a:off x="147645" y="5913515"/>
                <a:ext cx="3826680" cy="429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ad>
                            <m:radPr>
                              <m:degHide m:val="on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rad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B40EB3B-4F46-A644-E888-9BCC7EB40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45" y="5913515"/>
                <a:ext cx="3826680" cy="429798"/>
              </a:xfrm>
              <a:prstGeom prst="rect">
                <a:avLst/>
              </a:prstGeom>
              <a:blipFill>
                <a:blip r:embed="rId5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A52A6C6-E766-5411-3593-5C90D5836C4B}"/>
              </a:ext>
            </a:extLst>
          </p:cNvPr>
          <p:cNvCxnSpPr>
            <a:cxnSpLocks/>
          </p:cNvCxnSpPr>
          <p:nvPr/>
        </p:nvCxnSpPr>
        <p:spPr>
          <a:xfrm>
            <a:off x="5019473" y="1738488"/>
            <a:ext cx="19649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D6D1CD0-DDB8-B9D6-751E-C1550DDE3C8C}"/>
              </a:ext>
            </a:extLst>
          </p:cNvPr>
          <p:cNvCxnSpPr>
            <a:cxnSpLocks/>
          </p:cNvCxnSpPr>
          <p:nvPr/>
        </p:nvCxnSpPr>
        <p:spPr>
          <a:xfrm flipV="1">
            <a:off x="6388638" y="1813230"/>
            <a:ext cx="595822" cy="68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rapezoid 22">
            <a:extLst>
              <a:ext uri="{FF2B5EF4-FFF2-40B4-BE49-F238E27FC236}">
                <a16:creationId xmlns:a16="http://schemas.microsoft.com/office/drawing/2014/main" id="{201543D6-2F1D-AE30-154E-ACD75C215E57}"/>
              </a:ext>
            </a:extLst>
          </p:cNvPr>
          <p:cNvSpPr/>
          <p:nvPr/>
        </p:nvSpPr>
        <p:spPr>
          <a:xfrm rot="16200000" flipH="1">
            <a:off x="7463545" y="974707"/>
            <a:ext cx="843064" cy="1566153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Pointwise</a:t>
            </a:r>
            <a:r>
              <a:rPr lang="de-DE" dirty="0">
                <a:solidFill>
                  <a:schemeClr val="tx1"/>
                </a:solidFill>
              </a:rPr>
              <a:t> Decoder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7B6857-5ABC-3975-CE3A-9ACBDF68D420}"/>
              </a:ext>
            </a:extLst>
          </p:cNvPr>
          <p:cNvCxnSpPr/>
          <p:nvPr/>
        </p:nvCxnSpPr>
        <p:spPr>
          <a:xfrm>
            <a:off x="8701387" y="1725650"/>
            <a:ext cx="382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306E3EA-44DD-42CC-1DA0-DB7449AB768B}"/>
                  </a:ext>
                </a:extLst>
              </p:cNvPr>
              <p:cNvSpPr txBox="1"/>
              <p:nvPr/>
            </p:nvSpPr>
            <p:spPr>
              <a:xfrm>
                <a:off x="9025642" y="1548294"/>
                <a:ext cx="2736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306E3EA-44DD-42CC-1DA0-DB7449AB7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642" y="1548294"/>
                <a:ext cx="2736718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CFC01C4-993A-3B94-789D-592D37721FBF}"/>
              </a:ext>
            </a:extLst>
          </p:cNvPr>
          <p:cNvCxnSpPr>
            <a:cxnSpLocks/>
          </p:cNvCxnSpPr>
          <p:nvPr/>
        </p:nvCxnSpPr>
        <p:spPr>
          <a:xfrm>
            <a:off x="10201072" y="2574587"/>
            <a:ext cx="0" cy="732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768ADE4-0AEB-CE0C-7CBA-760B01C93441}"/>
              </a:ext>
            </a:extLst>
          </p:cNvPr>
          <p:cNvCxnSpPr/>
          <p:nvPr/>
        </p:nvCxnSpPr>
        <p:spPr>
          <a:xfrm flipH="1">
            <a:off x="2062264" y="3307404"/>
            <a:ext cx="8151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8B079-8388-A247-BB6B-F48BD348211E}"/>
              </a:ext>
            </a:extLst>
          </p:cNvPr>
          <p:cNvCxnSpPr/>
          <p:nvPr/>
        </p:nvCxnSpPr>
        <p:spPr>
          <a:xfrm>
            <a:off x="2062264" y="3307404"/>
            <a:ext cx="0" cy="674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8ECC9043-D07E-0BE8-954C-8A41D9EDE3CF}"/>
              </a:ext>
            </a:extLst>
          </p:cNvPr>
          <p:cNvSpPr txBox="1"/>
          <p:nvPr/>
        </p:nvSpPr>
        <p:spPr>
          <a:xfrm>
            <a:off x="5207540" y="3371226"/>
            <a:ext cx="158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After T </a:t>
            </a:r>
            <a:r>
              <a:rPr lang="de-DE" dirty="0" err="1"/>
              <a:t>steps</a:t>
            </a:r>
            <a:endParaRPr lang="en-GB" dirty="0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9EFEC7EE-9A50-202D-701D-ABFD053894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904" y="4098006"/>
            <a:ext cx="2136163" cy="11872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C4EFEBD-3352-E4BC-4FAB-0C5426AA74D5}"/>
                  </a:ext>
                </a:extLst>
              </p:cNvPr>
              <p:cNvSpPr txBox="1"/>
              <p:nvPr/>
            </p:nvSpPr>
            <p:spPr>
              <a:xfrm>
                <a:off x="5680953" y="2301761"/>
                <a:ext cx="9014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C4EFEBD-3352-E4BC-4FAB-0C5426AA7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53" y="2301761"/>
                <a:ext cx="9014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FD2F53C-0218-2E60-BDFD-A96E5515B192}"/>
                  </a:ext>
                </a:extLst>
              </p:cNvPr>
              <p:cNvSpPr txBox="1"/>
              <p:nvPr/>
            </p:nvSpPr>
            <p:spPr>
              <a:xfrm>
                <a:off x="1243865" y="5350053"/>
                <a:ext cx="1531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FD2F53C-0218-2E60-BDFD-A96E5515B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865" y="5350053"/>
                <a:ext cx="153176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3EBFCB0-4509-C591-724C-C33E02325ED3}"/>
                  </a:ext>
                </a:extLst>
              </p:cNvPr>
              <p:cNvSpPr txBox="1"/>
              <p:nvPr/>
            </p:nvSpPr>
            <p:spPr>
              <a:xfrm>
                <a:off x="5269149" y="2628885"/>
                <a:ext cx="16537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{"/>
                          <m:endChr m:val="}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2, 3, …,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3EBFCB0-4509-C591-724C-C33E0232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149" y="2628885"/>
                <a:ext cx="16537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A9851934-C731-27CC-9257-C645A8A9A26E}"/>
                  </a:ext>
                </a:extLst>
              </p:cNvPr>
              <p:cNvSpPr txBox="1"/>
              <p:nvPr/>
            </p:nvSpPr>
            <p:spPr>
              <a:xfrm>
                <a:off x="8454955" y="5981496"/>
                <a:ext cx="16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A9851934-C731-27CC-9257-C645A8A9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55" y="5981496"/>
                <a:ext cx="16796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0BE26D25-E0B8-7023-450A-226A874A6C95}"/>
              </a:ext>
            </a:extLst>
          </p:cNvPr>
          <p:cNvSpPr/>
          <p:nvPr/>
        </p:nvSpPr>
        <p:spPr>
          <a:xfrm>
            <a:off x="330740" y="1037617"/>
            <a:ext cx="11601856" cy="4773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6342753-E6F9-CBCB-21A5-CA78B6AA3AD0}"/>
              </a:ext>
            </a:extLst>
          </p:cNvPr>
          <p:cNvSpPr txBox="1"/>
          <p:nvPr/>
        </p:nvSpPr>
        <p:spPr>
          <a:xfrm>
            <a:off x="10453992" y="5382868"/>
            <a:ext cx="153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Autoencoder</a:t>
            </a:r>
            <a:endParaRPr lang="en-GB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F3EAAA0-E6EA-2D55-3949-6400F671C029}"/>
              </a:ext>
            </a:extLst>
          </p:cNvPr>
          <p:cNvSpPr txBox="1"/>
          <p:nvPr/>
        </p:nvSpPr>
        <p:spPr>
          <a:xfrm>
            <a:off x="56277" y="6332705"/>
            <a:ext cx="43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forward</a:t>
            </a:r>
            <a:r>
              <a:rPr lang="de-DE" dirty="0"/>
              <a:t> Markov Chain</a:t>
            </a:r>
            <a:endParaRPr lang="en-GB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AC002D9-17DD-665B-D93B-D44CEBEC7B0D}"/>
              </a:ext>
            </a:extLst>
          </p:cNvPr>
          <p:cNvSpPr txBox="1"/>
          <p:nvPr/>
        </p:nvSpPr>
        <p:spPr>
          <a:xfrm>
            <a:off x="8813259" y="1950058"/>
            <a:ext cx="267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Model </a:t>
            </a:r>
            <a:r>
              <a:rPr lang="de-DE" dirty="0" err="1"/>
              <a:t>learns</a:t>
            </a:r>
            <a:r>
              <a:rPr lang="de-DE" dirty="0"/>
              <a:t> reverse Markov Chain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DEDAD7D8-B806-DA31-8869-FE6894ECE605}"/>
                  </a:ext>
                </a:extLst>
              </p:cNvPr>
              <p:cNvSpPr txBox="1"/>
              <p:nvPr/>
            </p:nvSpPr>
            <p:spPr>
              <a:xfrm>
                <a:off x="7750511" y="6298481"/>
                <a:ext cx="3603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l-G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𝚽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, during Training</a:t>
                </a:r>
              </a:p>
            </p:txBody>
          </p:sp>
        </mc:Choice>
        <mc:Fallback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DEDAD7D8-B806-DA31-8869-FE6894ECE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11" y="6298481"/>
                <a:ext cx="3603289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27B83F-3A7F-1BB9-AB31-AC7A19A5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1301"/>
          </a:xfrm>
        </p:spPr>
        <p:txBody>
          <a:bodyPr>
            <a:normAutofit/>
          </a:bodyPr>
          <a:lstStyle/>
          <a:p>
            <a:r>
              <a:rPr lang="de-DE" sz="3200" dirty="0"/>
              <a:t>Autoencoder </a:t>
            </a:r>
            <a:r>
              <a:rPr lang="de-DE" sz="3200" dirty="0" err="1"/>
              <a:t>Predicted</a:t>
            </a:r>
            <a:r>
              <a:rPr lang="de-DE" sz="3200" dirty="0"/>
              <a:t> Point Clouds 256 Points end-</a:t>
            </a:r>
            <a:r>
              <a:rPr lang="de-DE" sz="3200" dirty="0" err="1"/>
              <a:t>to</a:t>
            </a:r>
            <a:r>
              <a:rPr lang="de-DE" sz="3200" dirty="0"/>
              <a:t>-end</a:t>
            </a:r>
            <a:endParaRPr lang="en-GB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2698CD-138F-935F-9F3F-3E41D1532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59" y="1326596"/>
            <a:ext cx="10201074" cy="531970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6F020AB-52B1-A29E-0867-8AF39F884500}"/>
              </a:ext>
            </a:extLst>
          </p:cNvPr>
          <p:cNvSpPr txBox="1"/>
          <p:nvPr/>
        </p:nvSpPr>
        <p:spPr>
          <a:xfrm>
            <a:off x="2418946" y="5278876"/>
            <a:ext cx="101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0.0248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F5446EF-3903-A382-7FAF-4929FAE90F29}"/>
              </a:ext>
            </a:extLst>
          </p:cNvPr>
          <p:cNvSpPr txBox="1"/>
          <p:nvPr/>
        </p:nvSpPr>
        <p:spPr>
          <a:xfrm>
            <a:off x="5736077" y="5278876"/>
            <a:ext cx="101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0.02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ACD740-DFE9-B1E3-74F9-2530620FCE99}"/>
              </a:ext>
            </a:extLst>
          </p:cNvPr>
          <p:cNvSpPr txBox="1"/>
          <p:nvPr/>
        </p:nvSpPr>
        <p:spPr>
          <a:xfrm>
            <a:off x="9007812" y="5278876"/>
            <a:ext cx="101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0.0168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67E8F1-C7F2-6307-C47E-8E0454574088}"/>
              </a:ext>
            </a:extLst>
          </p:cNvPr>
          <p:cNvSpPr/>
          <p:nvPr/>
        </p:nvSpPr>
        <p:spPr>
          <a:xfrm>
            <a:off x="5389123" y="1348902"/>
            <a:ext cx="1284051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B172027-EB9C-BF2E-EFC8-AF2432DC7580}"/>
              </a:ext>
            </a:extLst>
          </p:cNvPr>
          <p:cNvSpPr/>
          <p:nvPr/>
        </p:nvSpPr>
        <p:spPr>
          <a:xfrm>
            <a:off x="2418946" y="2013626"/>
            <a:ext cx="1284051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5B6BCFC-E1B6-0D62-8BD5-AFEC28B778F2}"/>
              </a:ext>
            </a:extLst>
          </p:cNvPr>
          <p:cNvSpPr/>
          <p:nvPr/>
        </p:nvSpPr>
        <p:spPr>
          <a:xfrm>
            <a:off x="5346970" y="2013626"/>
            <a:ext cx="1284051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BD33062-0341-30C6-9EBB-C1A955712FDA}"/>
              </a:ext>
            </a:extLst>
          </p:cNvPr>
          <p:cNvSpPr/>
          <p:nvPr/>
        </p:nvSpPr>
        <p:spPr>
          <a:xfrm>
            <a:off x="8274994" y="2013626"/>
            <a:ext cx="1284051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A4A82E6-0AFC-6C03-C35A-608DCF9819CD}"/>
              </a:ext>
            </a:extLst>
          </p:cNvPr>
          <p:cNvSpPr txBox="1"/>
          <p:nvPr/>
        </p:nvSpPr>
        <p:spPr>
          <a:xfrm>
            <a:off x="2384898" y="2013626"/>
            <a:ext cx="142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C2BEE21-85A5-FD9E-3DDA-45509B8848FD}"/>
              </a:ext>
            </a:extLst>
          </p:cNvPr>
          <p:cNvSpPr txBox="1"/>
          <p:nvPr/>
        </p:nvSpPr>
        <p:spPr>
          <a:xfrm>
            <a:off x="5531796" y="2013626"/>
            <a:ext cx="142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3BDFE4-731C-24F4-B86D-37D7790A3C35}"/>
              </a:ext>
            </a:extLst>
          </p:cNvPr>
          <p:cNvSpPr txBox="1"/>
          <p:nvPr/>
        </p:nvSpPr>
        <p:spPr>
          <a:xfrm>
            <a:off x="8615461" y="2023354"/>
            <a:ext cx="142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04823A2-583D-10DC-2A97-7E7E7C532B1C}"/>
              </a:ext>
            </a:extLst>
          </p:cNvPr>
          <p:cNvSpPr txBox="1"/>
          <p:nvPr/>
        </p:nvSpPr>
        <p:spPr>
          <a:xfrm>
            <a:off x="979252" y="5140376"/>
            <a:ext cx="1348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r>
              <a:rPr lang="de-DE" dirty="0"/>
              <a:t> </a:t>
            </a:r>
            <a:r>
              <a:rPr lang="de-DE" dirty="0" err="1"/>
              <a:t>Distance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B8417F2-1B40-F85E-4D6F-0D2907F3C6A4}"/>
              </a:ext>
            </a:extLst>
          </p:cNvPr>
          <p:cNvGrpSpPr/>
          <p:nvPr/>
        </p:nvGrpSpPr>
        <p:grpSpPr>
          <a:xfrm>
            <a:off x="5110262" y="1242218"/>
            <a:ext cx="1841771" cy="705095"/>
            <a:chOff x="4857345" y="1378244"/>
            <a:chExt cx="1841771" cy="70509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CA5F389-1B50-8517-ED68-4BB234DA49F6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9DA55B3-CE5E-C6F8-22C7-5DDC7B94FC0C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8DA6FE45-F3AE-1062-948F-2152026B98BE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C1063690-67DF-B6DE-13AD-4046745D09C1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70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E6181-8596-69DB-21FE-53144A10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471"/>
          </a:xfrm>
        </p:spPr>
        <p:txBody>
          <a:bodyPr>
            <a:normAutofit/>
          </a:bodyPr>
          <a:lstStyle/>
          <a:p>
            <a:r>
              <a:rPr lang="de-DE" sz="3200" dirty="0"/>
              <a:t>Autoencoder </a:t>
            </a:r>
            <a:r>
              <a:rPr lang="de-DE" sz="3200" dirty="0" err="1"/>
              <a:t>Predicted</a:t>
            </a:r>
            <a:r>
              <a:rPr lang="de-DE" sz="3200" dirty="0"/>
              <a:t> Point Clouds 2048 Points end-</a:t>
            </a:r>
            <a:r>
              <a:rPr lang="de-DE" sz="3200" dirty="0" err="1"/>
              <a:t>to</a:t>
            </a:r>
            <a:r>
              <a:rPr lang="de-DE" sz="3200" dirty="0"/>
              <a:t>-end</a:t>
            </a:r>
            <a:endParaRPr lang="en-GB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3D3486F-681B-0A45-CC62-42E3B5C63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83011"/>
            <a:ext cx="10515599" cy="548372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5EE6481-975B-57DE-1C01-4D9566A81FEE}"/>
              </a:ext>
            </a:extLst>
          </p:cNvPr>
          <p:cNvSpPr txBox="1"/>
          <p:nvPr/>
        </p:nvSpPr>
        <p:spPr>
          <a:xfrm>
            <a:off x="2438400" y="5123234"/>
            <a:ext cx="86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0.0141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3A2DE3-E962-2100-D01E-A41405A41DA7}"/>
              </a:ext>
            </a:extLst>
          </p:cNvPr>
          <p:cNvSpPr txBox="1"/>
          <p:nvPr/>
        </p:nvSpPr>
        <p:spPr>
          <a:xfrm>
            <a:off x="5729592" y="5123234"/>
            <a:ext cx="111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0.0116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D9A7807-4DC5-0A8E-EF37-8575C3D45BB3}"/>
              </a:ext>
            </a:extLst>
          </p:cNvPr>
          <p:cNvSpPr txBox="1"/>
          <p:nvPr/>
        </p:nvSpPr>
        <p:spPr>
          <a:xfrm>
            <a:off x="9197502" y="5123234"/>
            <a:ext cx="111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0.0088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84776D1-FE44-5B57-151E-5B25EAF736A9}"/>
              </a:ext>
            </a:extLst>
          </p:cNvPr>
          <p:cNvSpPr/>
          <p:nvPr/>
        </p:nvSpPr>
        <p:spPr>
          <a:xfrm>
            <a:off x="5252936" y="1083011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979630-7D2C-CB68-33DD-538ED456FEF2}"/>
              </a:ext>
            </a:extLst>
          </p:cNvPr>
          <p:cNvSpPr/>
          <p:nvPr/>
        </p:nvSpPr>
        <p:spPr>
          <a:xfrm>
            <a:off x="2286000" y="1734766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E47AB4-F189-EA9D-A4F9-38AF5CF7B229}"/>
              </a:ext>
            </a:extLst>
          </p:cNvPr>
          <p:cNvSpPr/>
          <p:nvPr/>
        </p:nvSpPr>
        <p:spPr>
          <a:xfrm>
            <a:off x="5032443" y="1840588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16F51B-DA3A-2E0A-F37E-950BDA398A12}"/>
              </a:ext>
            </a:extLst>
          </p:cNvPr>
          <p:cNvSpPr/>
          <p:nvPr/>
        </p:nvSpPr>
        <p:spPr>
          <a:xfrm>
            <a:off x="8159885" y="1843832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3A22D17-2289-93A3-D47A-641738CC95D8}"/>
              </a:ext>
            </a:extLst>
          </p:cNvPr>
          <p:cNvSpPr txBox="1"/>
          <p:nvPr/>
        </p:nvSpPr>
        <p:spPr>
          <a:xfrm>
            <a:off x="2542162" y="2055826"/>
            <a:ext cx="169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91E7616-7B06-77FB-F51C-158153B7E1B9}"/>
              </a:ext>
            </a:extLst>
          </p:cNvPr>
          <p:cNvSpPr txBox="1"/>
          <p:nvPr/>
        </p:nvSpPr>
        <p:spPr>
          <a:xfrm>
            <a:off x="5587324" y="2064326"/>
            <a:ext cx="121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9DE95C9-48A8-C25A-64DC-FC59B4C5EFE2}"/>
              </a:ext>
            </a:extLst>
          </p:cNvPr>
          <p:cNvSpPr txBox="1"/>
          <p:nvPr/>
        </p:nvSpPr>
        <p:spPr>
          <a:xfrm>
            <a:off x="8769076" y="2064326"/>
            <a:ext cx="121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C1C0D5C-C9F1-47A7-D5A5-DBA61E0668B6}"/>
              </a:ext>
            </a:extLst>
          </p:cNvPr>
          <p:cNvSpPr txBox="1"/>
          <p:nvPr/>
        </p:nvSpPr>
        <p:spPr>
          <a:xfrm>
            <a:off x="938720" y="5025956"/>
            <a:ext cx="111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r>
              <a:rPr lang="de-DE" dirty="0"/>
              <a:t> </a:t>
            </a:r>
            <a:r>
              <a:rPr lang="de-DE" dirty="0" err="1"/>
              <a:t>Distance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BDDA963-8092-B85A-940A-64A105F82E32}"/>
              </a:ext>
            </a:extLst>
          </p:cNvPr>
          <p:cNvGrpSpPr/>
          <p:nvPr/>
        </p:nvGrpSpPr>
        <p:grpSpPr>
          <a:xfrm>
            <a:off x="5319812" y="1228636"/>
            <a:ext cx="1841771" cy="705095"/>
            <a:chOff x="4857345" y="1378244"/>
            <a:chExt cx="1841771" cy="70509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A48AB621-F270-E70F-1E1E-C200714C7918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9DE81CE-7476-EDDF-1C8E-4DFBAFF6CD1B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4C2FFF4-F737-2F06-79A8-2452454CBAC4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565E074F-155F-1458-AAA5-4655CFA3D4C7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29205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2A6D9-08E1-2A47-0C20-710A6654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9718"/>
          </a:xfrm>
        </p:spPr>
        <p:txBody>
          <a:bodyPr>
            <a:normAutofit/>
          </a:bodyPr>
          <a:lstStyle/>
          <a:p>
            <a:r>
              <a:rPr lang="de-DE" sz="3200" dirty="0"/>
              <a:t>Autoencoder </a:t>
            </a:r>
            <a:r>
              <a:rPr lang="de-DE" sz="3200" dirty="0" err="1"/>
              <a:t>with</a:t>
            </a:r>
            <a:r>
              <a:rPr lang="de-DE" sz="3200" dirty="0"/>
              <a:t> </a:t>
            </a:r>
            <a:r>
              <a:rPr lang="de-DE" sz="3200" dirty="0" err="1"/>
              <a:t>Pretraining</a:t>
            </a:r>
            <a:endParaRPr lang="en-GB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90271F-FF5D-6B9A-0724-71AD5248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48" y="1132841"/>
            <a:ext cx="10586851" cy="552087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4571BF0-8952-64FE-AD56-A8983E3DD84D}"/>
              </a:ext>
            </a:extLst>
          </p:cNvPr>
          <p:cNvSpPr txBox="1"/>
          <p:nvPr/>
        </p:nvSpPr>
        <p:spPr>
          <a:xfrm>
            <a:off x="2029838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0.0056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F8605F8-06DF-89E1-4EA5-6A99D02822FE}"/>
              </a:ext>
            </a:extLst>
          </p:cNvPr>
          <p:cNvSpPr txBox="1"/>
          <p:nvPr/>
        </p:nvSpPr>
        <p:spPr>
          <a:xfrm>
            <a:off x="5476672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0.0039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A38B34C-68A8-5DF7-C69F-C104860350B4}"/>
              </a:ext>
            </a:extLst>
          </p:cNvPr>
          <p:cNvSpPr txBox="1"/>
          <p:nvPr/>
        </p:nvSpPr>
        <p:spPr>
          <a:xfrm>
            <a:off x="8994843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0.0050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B695DBA-720A-697F-385C-30A7296E0BE5}"/>
              </a:ext>
            </a:extLst>
          </p:cNvPr>
          <p:cNvSpPr/>
          <p:nvPr/>
        </p:nvSpPr>
        <p:spPr>
          <a:xfrm>
            <a:off x="2237362" y="1880681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464746F-E237-B754-3D58-548CD0F8127C}"/>
              </a:ext>
            </a:extLst>
          </p:cNvPr>
          <p:cNvSpPr/>
          <p:nvPr/>
        </p:nvSpPr>
        <p:spPr>
          <a:xfrm>
            <a:off x="5455552" y="1994171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D5BCE2-8341-4E18-94C4-71E600DEA5F7}"/>
              </a:ext>
            </a:extLst>
          </p:cNvPr>
          <p:cNvSpPr/>
          <p:nvPr/>
        </p:nvSpPr>
        <p:spPr>
          <a:xfrm>
            <a:off x="8764533" y="1964989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FD5E411-33DD-2DF3-AE05-F71A37D98B53}"/>
              </a:ext>
            </a:extLst>
          </p:cNvPr>
          <p:cNvSpPr txBox="1"/>
          <p:nvPr/>
        </p:nvSpPr>
        <p:spPr>
          <a:xfrm>
            <a:off x="2309485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7BD57A-36FC-3021-6AA3-A1F5709AC3A5}"/>
              </a:ext>
            </a:extLst>
          </p:cNvPr>
          <p:cNvSpPr txBox="1"/>
          <p:nvPr/>
        </p:nvSpPr>
        <p:spPr>
          <a:xfrm>
            <a:off x="5358274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7C6E2F7-D963-7424-C0F3-75C0D5430625}"/>
              </a:ext>
            </a:extLst>
          </p:cNvPr>
          <p:cNvSpPr txBox="1"/>
          <p:nvPr/>
        </p:nvSpPr>
        <p:spPr>
          <a:xfrm>
            <a:off x="8407063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F2D6FE8-A3A6-536D-9141-C39EEEC55D8C}"/>
              </a:ext>
            </a:extLst>
          </p:cNvPr>
          <p:cNvSpPr/>
          <p:nvPr/>
        </p:nvSpPr>
        <p:spPr>
          <a:xfrm>
            <a:off x="5168630" y="1167319"/>
            <a:ext cx="1473696" cy="453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DBEE948-F5D7-30A5-72C2-A8A2CB1A532A}"/>
              </a:ext>
            </a:extLst>
          </p:cNvPr>
          <p:cNvSpPr txBox="1"/>
          <p:nvPr/>
        </p:nvSpPr>
        <p:spPr>
          <a:xfrm>
            <a:off x="617792" y="4984734"/>
            <a:ext cx="1412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endParaRPr lang="de-DE" dirty="0"/>
          </a:p>
          <a:p>
            <a:r>
              <a:rPr lang="de-DE" dirty="0" err="1"/>
              <a:t>Distance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29409FF-503F-9DDF-BD1A-FF3750ADF0BC}"/>
              </a:ext>
            </a:extLst>
          </p:cNvPr>
          <p:cNvGrpSpPr/>
          <p:nvPr/>
        </p:nvGrpSpPr>
        <p:grpSpPr>
          <a:xfrm>
            <a:off x="5168630" y="1208744"/>
            <a:ext cx="1841771" cy="705095"/>
            <a:chOff x="4857345" y="1378244"/>
            <a:chExt cx="1841771" cy="70509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3FCC259-B2F8-9ED5-69F2-0BFA9B569BCB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F5C199C-450B-C6F9-F9E8-A2A1F084B29D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91D2E0EA-42B0-1B97-51C4-45C0E7928B92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C5B6323C-4F4B-0C51-4BDD-79B0ABECE35C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16277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0150F-14B9-E907-1BF0-57908635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VAE-Model Architecture Encoder</a:t>
            </a:r>
            <a:endParaRPr lang="en-GB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D2BC156-09E1-DE42-F0F5-47CF2DB307D1}"/>
              </a:ext>
            </a:extLst>
          </p:cNvPr>
          <p:cNvSpPr/>
          <p:nvPr/>
        </p:nvSpPr>
        <p:spPr>
          <a:xfrm>
            <a:off x="2107660" y="1690688"/>
            <a:ext cx="1958502" cy="706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Projection</a:t>
            </a:r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95F2DEF-60E7-3A88-F9E3-3B8AB7529929}"/>
              </a:ext>
            </a:extLst>
          </p:cNvPr>
          <p:cNvGrpSpPr/>
          <p:nvPr/>
        </p:nvGrpSpPr>
        <p:grpSpPr>
          <a:xfrm>
            <a:off x="1183532" y="1834578"/>
            <a:ext cx="434503" cy="419095"/>
            <a:chOff x="995464" y="1690688"/>
            <a:chExt cx="434503" cy="419095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2CDB697-67DB-B4CC-D01B-E042A012A7B1}"/>
                </a:ext>
              </a:extLst>
            </p:cNvPr>
            <p:cNvSpPr/>
            <p:nvPr/>
          </p:nvSpPr>
          <p:spPr>
            <a:xfrm>
              <a:off x="1134894" y="1690688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0840455-AAA2-D125-2356-CC62F8C9C5BA}"/>
                </a:ext>
              </a:extLst>
            </p:cNvPr>
            <p:cNvSpPr/>
            <p:nvPr/>
          </p:nvSpPr>
          <p:spPr>
            <a:xfrm>
              <a:off x="995464" y="18430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A41C41E9-6BDD-2BD9-567E-3135A1EF76B4}"/>
                </a:ext>
              </a:extLst>
            </p:cNvPr>
            <p:cNvSpPr/>
            <p:nvPr/>
          </p:nvSpPr>
          <p:spPr>
            <a:xfrm>
              <a:off x="1164077" y="1888806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9B8FE20-37B1-3087-B7DA-0EE17B17777D}"/>
                </a:ext>
              </a:extLst>
            </p:cNvPr>
            <p:cNvSpPr/>
            <p:nvPr/>
          </p:nvSpPr>
          <p:spPr>
            <a:xfrm>
              <a:off x="1371601" y="17668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70DFC89-3186-AC75-1B09-E87462BFF366}"/>
                </a:ext>
              </a:extLst>
            </p:cNvPr>
            <p:cNvSpPr/>
            <p:nvPr/>
          </p:nvSpPr>
          <p:spPr>
            <a:xfrm>
              <a:off x="1371601" y="1890769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3E704AB-768F-F41B-2F2F-B730E47ECF22}"/>
                </a:ext>
              </a:extLst>
            </p:cNvPr>
            <p:cNvSpPr/>
            <p:nvPr/>
          </p:nvSpPr>
          <p:spPr>
            <a:xfrm>
              <a:off x="1193260" y="2064064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4346109-61CE-E731-1443-1466B4743297}"/>
              </a:ext>
            </a:extLst>
          </p:cNvPr>
          <p:cNvCxnSpPr/>
          <p:nvPr/>
        </p:nvCxnSpPr>
        <p:spPr>
          <a:xfrm>
            <a:off x="1783404" y="2009836"/>
            <a:ext cx="239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0129F42-2137-67C4-B178-96D6C855BE5E}"/>
              </a:ext>
            </a:extLst>
          </p:cNvPr>
          <p:cNvCxnSpPr/>
          <p:nvPr/>
        </p:nvCxnSpPr>
        <p:spPr>
          <a:xfrm>
            <a:off x="4186135" y="2032696"/>
            <a:ext cx="239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51C4FF8-5201-3762-DCB0-B40BC4D7EB72}"/>
                  </a:ext>
                </a:extLst>
              </p:cNvPr>
              <p:cNvSpPr txBox="1"/>
              <p:nvPr/>
            </p:nvSpPr>
            <p:spPr>
              <a:xfrm>
                <a:off x="946826" y="2397565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51C4FF8-5201-3762-DCB0-B40BC4D7E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26" y="2397565"/>
                <a:ext cx="9857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6CE1653-71A3-4DA4-D9B5-D2E2DC28F31D}"/>
                  </a:ext>
                </a:extLst>
              </p:cNvPr>
              <p:cNvSpPr txBox="1"/>
              <p:nvPr/>
            </p:nvSpPr>
            <p:spPr>
              <a:xfrm>
                <a:off x="5449923" y="2289677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6CE1653-71A3-4DA4-D9B5-D2E2DC28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923" y="2289677"/>
                <a:ext cx="9857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629C3865-8D62-064B-F3A4-CDCD046DABFC}"/>
              </a:ext>
            </a:extLst>
          </p:cNvPr>
          <p:cNvSpPr txBox="1"/>
          <p:nvPr/>
        </p:nvSpPr>
        <p:spPr>
          <a:xfrm>
            <a:off x="797669" y="2762434"/>
            <a:ext cx="129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Pointcloud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DC4E251-6D22-15CE-826C-B5611FA882EC}"/>
                  </a:ext>
                </a:extLst>
              </p:cNvPr>
              <p:cNvSpPr txBox="1"/>
              <p:nvPr/>
            </p:nvSpPr>
            <p:spPr>
              <a:xfrm>
                <a:off x="5508288" y="1893749"/>
                <a:ext cx="731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DC4E251-6D22-15CE-826C-B5611FA88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288" y="1893749"/>
                <a:ext cx="731196" cy="369332"/>
              </a:xfrm>
              <a:prstGeom prst="rect">
                <a:avLst/>
              </a:prstGeom>
              <a:blipFill>
                <a:blip r:embed="rId4"/>
                <a:stretch>
                  <a:fillRect t="-6667" r="-416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feld 21">
            <a:extLst>
              <a:ext uri="{FF2B5EF4-FFF2-40B4-BE49-F238E27FC236}">
                <a16:creationId xmlns:a16="http://schemas.microsoft.com/office/drawing/2014/main" id="{7C7F8883-E507-A73A-1403-A6E1F8DF9A44}"/>
              </a:ext>
            </a:extLst>
          </p:cNvPr>
          <p:cNvSpPr txBox="1"/>
          <p:nvPr/>
        </p:nvSpPr>
        <p:spPr>
          <a:xfrm>
            <a:off x="5131340" y="2678462"/>
            <a:ext cx="179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Global Feature</a:t>
            </a:r>
            <a:endParaRPr lang="en-GB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B69943D-34AB-D7F7-1651-D0D732E300A5}"/>
              </a:ext>
            </a:extLst>
          </p:cNvPr>
          <p:cNvCxnSpPr>
            <a:cxnSpLocks/>
          </p:cNvCxnSpPr>
          <p:nvPr/>
        </p:nvCxnSpPr>
        <p:spPr>
          <a:xfrm flipV="1">
            <a:off x="6328655" y="1734942"/>
            <a:ext cx="1743682" cy="29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9FE1571-144D-F31F-902D-85921970B235}"/>
              </a:ext>
            </a:extLst>
          </p:cNvPr>
          <p:cNvCxnSpPr>
            <a:cxnSpLocks/>
          </p:cNvCxnSpPr>
          <p:nvPr/>
        </p:nvCxnSpPr>
        <p:spPr>
          <a:xfrm>
            <a:off x="6323790" y="2024445"/>
            <a:ext cx="1687748" cy="42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CA90D103-60DE-776F-13A9-432E7C0BEF10}"/>
              </a:ext>
            </a:extLst>
          </p:cNvPr>
          <p:cNvSpPr/>
          <p:nvPr/>
        </p:nvSpPr>
        <p:spPr>
          <a:xfrm>
            <a:off x="8180151" y="1507605"/>
            <a:ext cx="1511030" cy="622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MLP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E618DF9-DDEF-85C6-BB2F-0E4106C1F559}"/>
              </a:ext>
            </a:extLst>
          </p:cNvPr>
          <p:cNvSpPr/>
          <p:nvPr/>
        </p:nvSpPr>
        <p:spPr>
          <a:xfrm>
            <a:off x="8180151" y="2249629"/>
            <a:ext cx="1511030" cy="622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MLP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C56B474-7DBC-44E1-7CA6-7AE394EC6B8B}"/>
              </a:ext>
            </a:extLst>
          </p:cNvPr>
          <p:cNvCxnSpPr/>
          <p:nvPr/>
        </p:nvCxnSpPr>
        <p:spPr>
          <a:xfrm>
            <a:off x="9798995" y="1789203"/>
            <a:ext cx="41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5C256F9-F898-7854-06E4-B413C69A752D}"/>
              </a:ext>
            </a:extLst>
          </p:cNvPr>
          <p:cNvCxnSpPr/>
          <p:nvPr/>
        </p:nvCxnSpPr>
        <p:spPr>
          <a:xfrm>
            <a:off x="9808729" y="2560913"/>
            <a:ext cx="41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B385E18-F33E-112B-1802-E4818D5E40DD}"/>
                  </a:ext>
                </a:extLst>
              </p:cNvPr>
              <p:cNvSpPr txBox="1"/>
              <p:nvPr/>
            </p:nvSpPr>
            <p:spPr>
              <a:xfrm>
                <a:off x="10265930" y="1577760"/>
                <a:ext cx="1138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B385E18-F33E-112B-1802-E4818D5E4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930" y="1577760"/>
                <a:ext cx="1138135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34956597-8433-F58D-9A1E-3B7D1481CDC9}"/>
                  </a:ext>
                </a:extLst>
              </p:cNvPr>
              <p:cNvSpPr txBox="1"/>
              <p:nvPr/>
            </p:nvSpPr>
            <p:spPr>
              <a:xfrm>
                <a:off x="9798995" y="2365298"/>
                <a:ext cx="2263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34956597-8433-F58D-9A1E-3B7D1481C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995" y="2365298"/>
                <a:ext cx="2263304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lipse 38">
            <a:extLst>
              <a:ext uri="{FF2B5EF4-FFF2-40B4-BE49-F238E27FC236}">
                <a16:creationId xmlns:a16="http://schemas.microsoft.com/office/drawing/2014/main" id="{EF85B1F1-6E31-B2C4-3BB0-1429C40D58F5}"/>
              </a:ext>
            </a:extLst>
          </p:cNvPr>
          <p:cNvSpPr/>
          <p:nvPr/>
        </p:nvSpPr>
        <p:spPr>
          <a:xfrm>
            <a:off x="1932562" y="1536970"/>
            <a:ext cx="2302213" cy="1023943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4CC6067-B29F-8164-DA60-696C89AACDCC}"/>
              </a:ext>
            </a:extLst>
          </p:cNvPr>
          <p:cNvSpPr/>
          <p:nvPr/>
        </p:nvSpPr>
        <p:spPr>
          <a:xfrm>
            <a:off x="2396247" y="334047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7BDC0A2-0300-2895-C1B6-1632FE0E144D}"/>
              </a:ext>
            </a:extLst>
          </p:cNvPr>
          <p:cNvCxnSpPr>
            <a:cxnSpLocks/>
          </p:cNvCxnSpPr>
          <p:nvPr/>
        </p:nvCxnSpPr>
        <p:spPr>
          <a:xfrm flipV="1">
            <a:off x="3083668" y="2745580"/>
            <a:ext cx="0" cy="509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DE9FD0EE-1AA1-8EA2-D761-36083DC6CB15}"/>
              </a:ext>
            </a:extLst>
          </p:cNvPr>
          <p:cNvSpPr/>
          <p:nvPr/>
        </p:nvSpPr>
        <p:spPr>
          <a:xfrm>
            <a:off x="2396247" y="425389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E3864E3-49DF-80E8-1D49-E6E1B709B5D1}"/>
              </a:ext>
            </a:extLst>
          </p:cNvPr>
          <p:cNvSpPr/>
          <p:nvPr/>
        </p:nvSpPr>
        <p:spPr>
          <a:xfrm>
            <a:off x="2396247" y="516731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0529DE3-E244-7720-4CB5-9B5BF9BC9A4A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>
            <a:off x="3083668" y="4034378"/>
            <a:ext cx="0" cy="219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D8A78C9-F419-3F64-3B14-CD3B10C4B308}"/>
              </a:ext>
            </a:extLst>
          </p:cNvPr>
          <p:cNvCxnSpPr/>
          <p:nvPr/>
        </p:nvCxnSpPr>
        <p:spPr>
          <a:xfrm>
            <a:off x="3083668" y="4947798"/>
            <a:ext cx="0" cy="219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0E6492D8-3EE8-BFA3-8BB5-2AAA942DE583}"/>
              </a:ext>
            </a:extLst>
          </p:cNvPr>
          <p:cNvSpPr/>
          <p:nvPr/>
        </p:nvSpPr>
        <p:spPr>
          <a:xfrm>
            <a:off x="356681" y="1264596"/>
            <a:ext cx="11342451" cy="5228279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5FBAAF4-C8D5-A2FD-6D64-16A98E789437}"/>
              </a:ext>
            </a:extLst>
          </p:cNvPr>
          <p:cNvSpPr txBox="1"/>
          <p:nvPr/>
        </p:nvSpPr>
        <p:spPr>
          <a:xfrm>
            <a:off x="9699206" y="5693706"/>
            <a:ext cx="2263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Encoder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AEC4157-8A11-524A-08F0-EAB51DE12691}"/>
                  </a:ext>
                </a:extLst>
              </p:cNvPr>
              <p:cNvSpPr txBox="1"/>
              <p:nvPr/>
            </p:nvSpPr>
            <p:spPr>
              <a:xfrm>
                <a:off x="9808729" y="2863128"/>
                <a:ext cx="2253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AEC4157-8A11-524A-08F0-EAB51DE12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8729" y="2863128"/>
                <a:ext cx="22535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C3788FEE-B127-A3BF-E6C5-B5A611E6ACFB}"/>
              </a:ext>
            </a:extLst>
          </p:cNvPr>
          <p:cNvSpPr/>
          <p:nvPr/>
        </p:nvSpPr>
        <p:spPr>
          <a:xfrm rot="5400000">
            <a:off x="4586941" y="1585547"/>
            <a:ext cx="1040160" cy="98573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MaxPool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57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/>
      <p:bldP spid="18" grpId="0"/>
      <p:bldP spid="19" grpId="0"/>
      <p:bldP spid="21" grpId="0"/>
      <p:bldP spid="22" grpId="0"/>
      <p:bldP spid="30" grpId="0" animBg="1"/>
      <p:bldP spid="31" grpId="0" animBg="1"/>
      <p:bldP spid="37" grpId="0"/>
      <p:bldP spid="38" grpId="0"/>
      <p:bldP spid="39" grpId="0" animBg="1"/>
      <p:bldP spid="43" grpId="0" animBg="1"/>
      <p:bldP spid="46" grpId="0" animBg="1"/>
      <p:bldP spid="47" grpId="0" animBg="1"/>
      <p:bldP spid="52" grpId="0" animBg="1"/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5E3CC-B5EF-F9AA-BD7D-BF296BAE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VAE - Model Architecture Decoder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B8BC7D-4656-F902-5706-AFB7A12E9923}"/>
                  </a:ext>
                </a:extLst>
              </p:cNvPr>
              <p:cNvSpPr txBox="1"/>
              <p:nvPr/>
            </p:nvSpPr>
            <p:spPr>
              <a:xfrm>
                <a:off x="699861" y="1506022"/>
                <a:ext cx="1138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B8BC7D-4656-F902-5706-AFB7A12E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61" y="1506022"/>
                <a:ext cx="1138135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8D5CEB9-3334-A4F9-16A5-8A39761B1E07}"/>
                  </a:ext>
                </a:extLst>
              </p:cNvPr>
              <p:cNvSpPr txBox="1"/>
              <p:nvPr/>
            </p:nvSpPr>
            <p:spPr>
              <a:xfrm>
                <a:off x="137277" y="1988619"/>
                <a:ext cx="2263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8D5CEB9-3334-A4F9-16A5-8A39761B1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7" y="1988619"/>
                <a:ext cx="226330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0450876-04E3-82FB-0A48-EC3465E3C4B9}"/>
              </a:ext>
            </a:extLst>
          </p:cNvPr>
          <p:cNvCxnSpPr/>
          <p:nvPr/>
        </p:nvCxnSpPr>
        <p:spPr>
          <a:xfrm>
            <a:off x="2150601" y="1875354"/>
            <a:ext cx="499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D653A11-178D-896D-6DFB-0F5FDED42158}"/>
                  </a:ext>
                </a:extLst>
              </p:cNvPr>
              <p:cNvSpPr txBox="1"/>
              <p:nvPr/>
            </p:nvSpPr>
            <p:spPr>
              <a:xfrm>
                <a:off x="2713186" y="1690688"/>
                <a:ext cx="8752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z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D653A11-178D-896D-6DFB-0F5FDED42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186" y="1690688"/>
                <a:ext cx="875279" cy="369332"/>
              </a:xfrm>
              <a:prstGeom prst="rect">
                <a:avLst/>
              </a:prstGeom>
              <a:blipFill>
                <a:blip r:embed="rId4"/>
                <a:stretch>
                  <a:fillRect l="-5556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3058EA24-B993-D4F1-3AD5-A1E796D2DDA5}"/>
              </a:ext>
            </a:extLst>
          </p:cNvPr>
          <p:cNvSpPr/>
          <p:nvPr/>
        </p:nvSpPr>
        <p:spPr>
          <a:xfrm>
            <a:off x="4032638" y="1590172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Upsample</a:t>
            </a:r>
            <a:endParaRPr lang="de-DE" dirty="0">
              <a:solidFill>
                <a:sysClr val="windowText" lastClr="000000"/>
              </a:solidFill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Linear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AA68063-1D4B-5D6E-9611-98527D7E9072}"/>
              </a:ext>
            </a:extLst>
          </p:cNvPr>
          <p:cNvCxnSpPr>
            <a:stCxn id="8" idx="3"/>
          </p:cNvCxnSpPr>
          <p:nvPr/>
        </p:nvCxnSpPr>
        <p:spPr>
          <a:xfrm>
            <a:off x="3588465" y="1875354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01D83-D90A-3F05-8A18-C6148A7A3E21}"/>
              </a:ext>
            </a:extLst>
          </p:cNvPr>
          <p:cNvCxnSpPr/>
          <p:nvPr/>
        </p:nvCxnSpPr>
        <p:spPr>
          <a:xfrm>
            <a:off x="5378891" y="1863799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CD8C6EBC-7D3D-EE4D-80FC-C16ABD3FC2DD}"/>
              </a:ext>
            </a:extLst>
          </p:cNvPr>
          <p:cNvSpPr/>
          <p:nvPr/>
        </p:nvSpPr>
        <p:spPr>
          <a:xfrm>
            <a:off x="5919479" y="1588367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ResBlock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EBB21E9-408F-7A67-E707-BDCB77832DC4}"/>
              </a:ext>
            </a:extLst>
          </p:cNvPr>
          <p:cNvSpPr/>
          <p:nvPr/>
        </p:nvSpPr>
        <p:spPr>
          <a:xfrm>
            <a:off x="7518514" y="1587634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Upsample</a:t>
            </a:r>
            <a:endParaRPr lang="de-DE" dirty="0">
              <a:solidFill>
                <a:sysClr val="windowText" lastClr="000000"/>
              </a:solidFill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Linear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55A3BF5-9721-428D-1755-0422750FB97B}"/>
              </a:ext>
            </a:extLst>
          </p:cNvPr>
          <p:cNvCxnSpPr/>
          <p:nvPr/>
        </p:nvCxnSpPr>
        <p:spPr>
          <a:xfrm>
            <a:off x="8860580" y="1863798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47DE6876-B121-07EF-6CAA-B4772B1B40BF}"/>
              </a:ext>
            </a:extLst>
          </p:cNvPr>
          <p:cNvSpPr/>
          <p:nvPr/>
        </p:nvSpPr>
        <p:spPr>
          <a:xfrm>
            <a:off x="9363959" y="1572241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ResBlock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4A3E7C1-5FAA-A555-BBB6-D4CBEBE1C5CF}"/>
              </a:ext>
            </a:extLst>
          </p:cNvPr>
          <p:cNvCxnSpPr/>
          <p:nvPr/>
        </p:nvCxnSpPr>
        <p:spPr>
          <a:xfrm>
            <a:off x="7138131" y="1857016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99B6482-0292-34B2-F883-8F12481BCD78}"/>
              </a:ext>
            </a:extLst>
          </p:cNvPr>
          <p:cNvGrpSpPr/>
          <p:nvPr/>
        </p:nvGrpSpPr>
        <p:grpSpPr>
          <a:xfrm>
            <a:off x="1085724" y="3716005"/>
            <a:ext cx="434503" cy="419095"/>
            <a:chOff x="995464" y="1690688"/>
            <a:chExt cx="434503" cy="419095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57A8762-B41A-11B2-86EB-74CAC00D4A52}"/>
                </a:ext>
              </a:extLst>
            </p:cNvPr>
            <p:cNvSpPr/>
            <p:nvPr/>
          </p:nvSpPr>
          <p:spPr>
            <a:xfrm>
              <a:off x="1134894" y="1690688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ED35D579-1970-9AA9-C6FF-B4A7CA00FBD4}"/>
                </a:ext>
              </a:extLst>
            </p:cNvPr>
            <p:cNvSpPr/>
            <p:nvPr/>
          </p:nvSpPr>
          <p:spPr>
            <a:xfrm>
              <a:off x="995464" y="18430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B7A387F-D849-528F-F3CD-B855B8136455}"/>
                </a:ext>
              </a:extLst>
            </p:cNvPr>
            <p:cNvSpPr/>
            <p:nvPr/>
          </p:nvSpPr>
          <p:spPr>
            <a:xfrm>
              <a:off x="1164077" y="1888806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EA117C5-056C-E369-540A-9B6DCFDCBFCB}"/>
                </a:ext>
              </a:extLst>
            </p:cNvPr>
            <p:cNvSpPr/>
            <p:nvPr/>
          </p:nvSpPr>
          <p:spPr>
            <a:xfrm>
              <a:off x="1371601" y="17668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06F1193-7B22-9653-CCEE-6C19A852BB14}"/>
                </a:ext>
              </a:extLst>
            </p:cNvPr>
            <p:cNvSpPr/>
            <p:nvPr/>
          </p:nvSpPr>
          <p:spPr>
            <a:xfrm>
              <a:off x="1371601" y="1890769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1DA1A4BA-339C-731A-624C-5E48203EDC9B}"/>
                </a:ext>
              </a:extLst>
            </p:cNvPr>
            <p:cNvSpPr/>
            <p:nvPr/>
          </p:nvSpPr>
          <p:spPr>
            <a:xfrm>
              <a:off x="1193260" y="2064064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C7C7729-6C89-9E57-CCF9-4EADA258C3A3}"/>
                  </a:ext>
                </a:extLst>
              </p:cNvPr>
              <p:cNvSpPr txBox="1"/>
              <p:nvPr/>
            </p:nvSpPr>
            <p:spPr>
              <a:xfrm>
                <a:off x="849018" y="4278992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C7C7729-6C89-9E57-CCF9-4EADA258C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8" y="4278992"/>
                <a:ext cx="985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42EE2CFA-5C4B-FA9C-FCEC-471D3523FB0E}"/>
              </a:ext>
            </a:extLst>
          </p:cNvPr>
          <p:cNvSpPr txBox="1"/>
          <p:nvPr/>
        </p:nvSpPr>
        <p:spPr>
          <a:xfrm>
            <a:off x="699861" y="4643861"/>
            <a:ext cx="129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Pointcloud</a:t>
            </a:r>
            <a:endParaRPr lang="en-GB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DDDDFB3-2A1D-EBEB-7F3F-A7DCC4BD62D4}"/>
              </a:ext>
            </a:extLst>
          </p:cNvPr>
          <p:cNvCxnSpPr>
            <a:cxnSpLocks/>
          </p:cNvCxnSpPr>
          <p:nvPr/>
        </p:nvCxnSpPr>
        <p:spPr>
          <a:xfrm>
            <a:off x="10604409" y="1857016"/>
            <a:ext cx="3881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F3662E5-AD6D-B63B-5325-39155DC706D1}"/>
              </a:ext>
            </a:extLst>
          </p:cNvPr>
          <p:cNvCxnSpPr/>
          <p:nvPr/>
        </p:nvCxnSpPr>
        <p:spPr>
          <a:xfrm>
            <a:off x="10985957" y="1857016"/>
            <a:ext cx="0" cy="807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BFED5A4-4135-B95D-1506-D1E76C11E7E7}"/>
              </a:ext>
            </a:extLst>
          </p:cNvPr>
          <p:cNvCxnSpPr/>
          <p:nvPr/>
        </p:nvCxnSpPr>
        <p:spPr>
          <a:xfrm flipH="1">
            <a:off x="1341886" y="2664259"/>
            <a:ext cx="96506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2955CE-4CE6-2796-2C5E-F9000A78DBB5}"/>
              </a:ext>
            </a:extLst>
          </p:cNvPr>
          <p:cNvCxnSpPr/>
          <p:nvPr/>
        </p:nvCxnSpPr>
        <p:spPr>
          <a:xfrm>
            <a:off x="1341886" y="2664259"/>
            <a:ext cx="0" cy="76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D30C3D9C-4B44-0EA5-5EB5-E66A6F0E711F}"/>
              </a:ext>
            </a:extLst>
          </p:cNvPr>
          <p:cNvSpPr/>
          <p:nvPr/>
        </p:nvSpPr>
        <p:spPr>
          <a:xfrm>
            <a:off x="335499" y="1427517"/>
            <a:ext cx="11262251" cy="4262814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DF4C35E-44AC-3732-75FA-8723C0439129}"/>
              </a:ext>
            </a:extLst>
          </p:cNvPr>
          <p:cNvSpPr txBox="1"/>
          <p:nvPr/>
        </p:nvSpPr>
        <p:spPr>
          <a:xfrm>
            <a:off x="9484285" y="4882955"/>
            <a:ext cx="2088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Decoder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24890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 animBg="1"/>
      <p:bldP spid="14" grpId="0" animBg="1"/>
      <p:bldP spid="15" grpId="0" animBg="1"/>
      <p:bldP spid="17" grpId="0" animBg="1"/>
      <p:bldP spid="26" grpId="0"/>
      <p:bldP spid="27" grpId="0"/>
      <p:bldP spid="37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D095F-4522-0822-2F19-9AEC13B2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</a:t>
            </a:r>
            <a:r>
              <a:rPr lang="de-DE" dirty="0" err="1"/>
              <a:t>with</a:t>
            </a:r>
            <a:r>
              <a:rPr lang="de-DE" dirty="0"/>
              <a:t> 1000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E537A93-0D7B-D203-7769-A6BFD2F09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07" y="1690688"/>
            <a:ext cx="5420481" cy="430590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EB1E90A-2641-9208-E1FD-FE4908F030EB}"/>
              </a:ext>
            </a:extLst>
          </p:cNvPr>
          <p:cNvCxnSpPr/>
          <p:nvPr/>
        </p:nvCxnSpPr>
        <p:spPr>
          <a:xfrm flipV="1">
            <a:off x="6038987" y="4960127"/>
            <a:ext cx="1848535" cy="309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3376507D-FC04-2749-5D61-24F3A874BD4C}"/>
              </a:ext>
            </a:extLst>
          </p:cNvPr>
          <p:cNvSpPr txBox="1"/>
          <p:nvPr/>
        </p:nvSpPr>
        <p:spPr>
          <a:xfrm>
            <a:off x="7988460" y="4514554"/>
            <a:ext cx="2319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Low </a:t>
            </a:r>
            <a:r>
              <a:rPr lang="de-DE" dirty="0" err="1"/>
              <a:t>chamfer</a:t>
            </a:r>
            <a:r>
              <a:rPr lang="de-DE" dirty="0"/>
              <a:t> and </a:t>
            </a:r>
            <a:r>
              <a:rPr lang="de-DE" dirty="0" err="1"/>
              <a:t>vae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</a:p>
          <a:p>
            <a:r>
              <a:rPr lang="de-DE" dirty="0"/>
              <a:t>also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stable</a:t>
            </a:r>
            <a:endParaRPr lang="en-GB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606B902-6AC2-34C7-7A82-A240F8CFD97D}"/>
              </a:ext>
            </a:extLst>
          </p:cNvPr>
          <p:cNvCxnSpPr/>
          <p:nvPr/>
        </p:nvCxnSpPr>
        <p:spPr>
          <a:xfrm flipV="1">
            <a:off x="5953468" y="3065542"/>
            <a:ext cx="2197191" cy="809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A11EBAB-C37A-CBE2-5C48-5392FD98DBA0}"/>
              </a:ext>
            </a:extLst>
          </p:cNvPr>
          <p:cNvSpPr txBox="1"/>
          <p:nvPr/>
        </p:nvSpPr>
        <p:spPr>
          <a:xfrm>
            <a:off x="8150659" y="2637122"/>
            <a:ext cx="265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Keeps</a:t>
            </a:r>
            <a:r>
              <a:rPr lang="de-DE" dirty="0"/>
              <a:t> </a:t>
            </a:r>
            <a:r>
              <a:rPr lang="de-DE" dirty="0" err="1"/>
              <a:t>decreasing</a:t>
            </a:r>
            <a:r>
              <a:rPr lang="de-DE" dirty="0"/>
              <a:t>, </a:t>
            </a:r>
            <a:r>
              <a:rPr lang="de-DE" dirty="0" err="1"/>
              <a:t>convergence</a:t>
            </a:r>
            <a:r>
              <a:rPr lang="de-DE" dirty="0"/>
              <a:t> not </a:t>
            </a:r>
            <a:r>
              <a:rPr lang="de-DE" dirty="0" err="1"/>
              <a:t>reached</a:t>
            </a:r>
            <a:endParaRPr lang="en-GB" dirty="0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A47994D-AF25-B32C-3DCE-814A8593EE1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038987" y="3752166"/>
            <a:ext cx="2249819" cy="14118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7C8C27A-E1D0-A5C9-8AB9-08565AFE8FF6}"/>
              </a:ext>
            </a:extLst>
          </p:cNvPr>
          <p:cNvSpPr txBox="1"/>
          <p:nvPr/>
        </p:nvSpPr>
        <p:spPr>
          <a:xfrm>
            <a:off x="8288806" y="3429000"/>
            <a:ext cx="1723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While </a:t>
            </a:r>
            <a:r>
              <a:rPr lang="de-DE" dirty="0" err="1"/>
              <a:t>vae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stays</a:t>
            </a:r>
            <a:r>
              <a:rPr lang="de-DE" dirty="0"/>
              <a:t> </a:t>
            </a:r>
            <a:r>
              <a:rPr lang="de-DE" dirty="0" err="1"/>
              <a:t>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957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9DFD8-94CF-D2BC-D910-949C074D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</a:t>
            </a:r>
            <a:r>
              <a:rPr lang="de-DE" dirty="0" err="1"/>
              <a:t>with</a:t>
            </a:r>
            <a:r>
              <a:rPr lang="de-DE" dirty="0"/>
              <a:t> 5000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E7E4996-47E3-622C-0884-6190C2C64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17" y="1515590"/>
            <a:ext cx="5801784" cy="4351338"/>
          </a:xfrm>
          <a:prstGeom prst="rect">
            <a:avLst/>
          </a:prstGeom>
        </p:spPr>
      </p:pic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8D610D03-83C3-A8E8-190C-85870CC415A8}"/>
              </a:ext>
            </a:extLst>
          </p:cNvPr>
          <p:cNvCxnSpPr>
            <a:cxnSpLocks/>
          </p:cNvCxnSpPr>
          <p:nvPr/>
        </p:nvCxnSpPr>
        <p:spPr>
          <a:xfrm flipV="1">
            <a:off x="5447489" y="3190672"/>
            <a:ext cx="1426724" cy="121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8BABF74D-CBB0-E4F6-7AD0-236A5B103210}"/>
              </a:ext>
            </a:extLst>
          </p:cNvPr>
          <p:cNvSpPr txBox="1"/>
          <p:nvPr/>
        </p:nvSpPr>
        <p:spPr>
          <a:xfrm>
            <a:off x="6965005" y="2834310"/>
            <a:ext cx="244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KLD Loss </a:t>
            </a:r>
            <a:r>
              <a:rPr lang="de-DE" dirty="0" err="1"/>
              <a:t>saturating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34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D089A-C9EC-36D9-F9A7-6D931FCF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47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dirty="0" err="1"/>
              <a:t>Comparing</a:t>
            </a:r>
            <a:r>
              <a:rPr lang="de-DE" sz="4000" dirty="0"/>
              <a:t> </a:t>
            </a:r>
            <a:r>
              <a:rPr lang="de-DE" sz="4000" dirty="0" err="1"/>
              <a:t>predicted</a:t>
            </a:r>
            <a:r>
              <a:rPr lang="de-DE" sz="4000" dirty="0"/>
              <a:t> </a:t>
            </a:r>
            <a:r>
              <a:rPr lang="de-DE" sz="4000" dirty="0" err="1"/>
              <a:t>vs</a:t>
            </a:r>
            <a:r>
              <a:rPr lang="de-DE" sz="4000" dirty="0"/>
              <a:t> </a:t>
            </a:r>
            <a:r>
              <a:rPr lang="de-DE" sz="4000" dirty="0" err="1"/>
              <a:t>target</a:t>
            </a:r>
            <a:r>
              <a:rPr lang="de-DE" sz="4000" dirty="0"/>
              <a:t> PCs</a:t>
            </a:r>
            <a:endParaRPr lang="en-GB" sz="4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3DBD24F-25B4-DC6C-5738-AA665B8A8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1" y="1199746"/>
            <a:ext cx="10179496" cy="53084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177A931A-7F70-42B0-8771-AF6E474D63D0}"/>
              </a:ext>
            </a:extLst>
          </p:cNvPr>
          <p:cNvSpPr/>
          <p:nvPr/>
        </p:nvSpPr>
        <p:spPr>
          <a:xfrm>
            <a:off x="1446179" y="2717260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0F6DEE2-B188-41A8-CDF1-C30D76978B66}"/>
              </a:ext>
            </a:extLst>
          </p:cNvPr>
          <p:cNvSpPr/>
          <p:nvPr/>
        </p:nvSpPr>
        <p:spPr>
          <a:xfrm>
            <a:off x="3453319" y="2759413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7A50423-3312-3359-6A8A-0F48A55BF32E}"/>
              </a:ext>
            </a:extLst>
          </p:cNvPr>
          <p:cNvSpPr/>
          <p:nvPr/>
        </p:nvSpPr>
        <p:spPr>
          <a:xfrm>
            <a:off x="5510320" y="2804808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82F556C-86BF-9711-180E-E8F2F7630183}"/>
              </a:ext>
            </a:extLst>
          </p:cNvPr>
          <p:cNvSpPr/>
          <p:nvPr/>
        </p:nvSpPr>
        <p:spPr>
          <a:xfrm>
            <a:off x="7567321" y="2775625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A7633E-1767-D807-B0AE-9D13F83B0EA0}"/>
              </a:ext>
            </a:extLst>
          </p:cNvPr>
          <p:cNvSpPr/>
          <p:nvPr/>
        </p:nvSpPr>
        <p:spPr>
          <a:xfrm>
            <a:off x="9507590" y="2739957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731A172-8E23-E91E-37A0-535C8725232E}"/>
              </a:ext>
            </a:extLst>
          </p:cNvPr>
          <p:cNvSpPr txBox="1"/>
          <p:nvPr/>
        </p:nvSpPr>
        <p:spPr>
          <a:xfrm>
            <a:off x="3317698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E6E31-5C79-B6D0-BCD1-59AFE47D64D1}"/>
              </a:ext>
            </a:extLst>
          </p:cNvPr>
          <p:cNvSpPr txBox="1"/>
          <p:nvPr/>
        </p:nvSpPr>
        <p:spPr>
          <a:xfrm>
            <a:off x="1326043" y="2907861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51E0B9E-4A29-DCED-020F-5810DA59C2DA}"/>
              </a:ext>
            </a:extLst>
          </p:cNvPr>
          <p:cNvSpPr txBox="1"/>
          <p:nvPr/>
        </p:nvSpPr>
        <p:spPr>
          <a:xfrm>
            <a:off x="5297190" y="2908568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7C2A2E0-4585-212A-4DD8-270A3A931C07}"/>
              </a:ext>
            </a:extLst>
          </p:cNvPr>
          <p:cNvSpPr txBox="1"/>
          <p:nvPr/>
        </p:nvSpPr>
        <p:spPr>
          <a:xfrm>
            <a:off x="7313608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4</a:t>
            </a:r>
            <a:endParaRPr lang="en-GB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0D2704F-1AA0-C857-5A37-77D26D4F0B8C}"/>
              </a:ext>
            </a:extLst>
          </p:cNvPr>
          <p:cNvSpPr txBox="1"/>
          <p:nvPr/>
        </p:nvSpPr>
        <p:spPr>
          <a:xfrm>
            <a:off x="9283234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5</a:t>
            </a:r>
            <a:endParaRPr lang="en-GB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9551E46-3FED-D051-58CF-883D3D44DE65}"/>
              </a:ext>
            </a:extLst>
          </p:cNvPr>
          <p:cNvSpPr/>
          <p:nvPr/>
        </p:nvSpPr>
        <p:spPr>
          <a:xfrm>
            <a:off x="5097294" y="1199746"/>
            <a:ext cx="1413753" cy="564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6381D19A-C5B2-4E71-8E62-4E934CCEBFB9}"/>
              </a:ext>
            </a:extLst>
          </p:cNvPr>
          <p:cNvGrpSpPr/>
          <p:nvPr/>
        </p:nvGrpSpPr>
        <p:grpSpPr>
          <a:xfrm>
            <a:off x="4747098" y="1579283"/>
            <a:ext cx="1841771" cy="705095"/>
            <a:chOff x="4857345" y="1378244"/>
            <a:chExt cx="1841771" cy="705095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8CE8C44-E951-298E-50B5-8089E909D3C1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4CE74BB-2F4C-46E1-D550-0A02025F4208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3CBFFD10-DF10-5EC5-54F6-A8E5D374BFE5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946AC5C9-8C27-E46E-8AD2-173A169FC6BE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B92E981B-9774-4640-EB96-25C449E4D5E2}"/>
              </a:ext>
            </a:extLst>
          </p:cNvPr>
          <p:cNvSpPr txBox="1"/>
          <p:nvPr/>
        </p:nvSpPr>
        <p:spPr>
          <a:xfrm>
            <a:off x="1357964" y="4531903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0.0019</a:t>
            </a:r>
            <a:endParaRPr lang="en-GB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C8AEC9E-3504-5305-9D7E-373726C43533}"/>
              </a:ext>
            </a:extLst>
          </p:cNvPr>
          <p:cNvSpPr txBox="1"/>
          <p:nvPr/>
        </p:nvSpPr>
        <p:spPr>
          <a:xfrm>
            <a:off x="205103" y="4388655"/>
            <a:ext cx="1044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endParaRPr lang="de-DE" dirty="0"/>
          </a:p>
          <a:p>
            <a:r>
              <a:rPr lang="de-DE" dirty="0" err="1"/>
              <a:t>Distance</a:t>
            </a:r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BCAF2C9-4297-37D2-6247-2062DC122714}"/>
              </a:ext>
            </a:extLst>
          </p:cNvPr>
          <p:cNvSpPr txBox="1"/>
          <p:nvPr/>
        </p:nvSpPr>
        <p:spPr>
          <a:xfrm>
            <a:off x="3358302" y="4534191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0.0016</a:t>
            </a:r>
            <a:endParaRPr lang="en-GB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A04C547-9E0F-0795-649A-10398B75003C}"/>
              </a:ext>
            </a:extLst>
          </p:cNvPr>
          <p:cNvSpPr txBox="1"/>
          <p:nvPr/>
        </p:nvSpPr>
        <p:spPr>
          <a:xfrm>
            <a:off x="5358640" y="4531903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0.0015</a:t>
            </a:r>
            <a:endParaRPr lang="en-GB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FB8BD75-9949-F68F-7814-626CAEA6548B}"/>
              </a:ext>
            </a:extLst>
          </p:cNvPr>
          <p:cNvSpPr txBox="1"/>
          <p:nvPr/>
        </p:nvSpPr>
        <p:spPr>
          <a:xfrm>
            <a:off x="7419975" y="4527155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0.0007</a:t>
            </a:r>
            <a:endParaRPr lang="en-GB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E825E43-232E-C61C-0C28-E715C902E546}"/>
              </a:ext>
            </a:extLst>
          </p:cNvPr>
          <p:cNvSpPr txBox="1"/>
          <p:nvPr/>
        </p:nvSpPr>
        <p:spPr>
          <a:xfrm>
            <a:off x="9617549" y="4527155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058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BD0D7-0B36-C6AD-03E0-646407AD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Research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252DA-9753-B50A-60B9-3662B67E7C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Investigate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quality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latent </a:t>
                </a:r>
                <a:r>
                  <a:rPr lang="de-DE" dirty="0" err="1"/>
                  <a:t>space</a:t>
                </a:r>
                <a:endParaRPr lang="de-DE" dirty="0"/>
              </a:p>
              <a:p>
                <a:pPr lvl="1"/>
                <a:r>
                  <a:rPr lang="de-DE" dirty="0"/>
                  <a:t>Reconstruction Quality </a:t>
                </a:r>
                <a:r>
                  <a:rPr lang="de-DE" dirty="0" err="1"/>
                  <a:t>from</a:t>
                </a:r>
                <a:r>
                  <a:rPr lang="de-DE" dirty="0"/>
                  <a:t> latent </a:t>
                </a:r>
                <a:r>
                  <a:rPr lang="de-DE" dirty="0" err="1"/>
                  <a:t>space</a:t>
                </a:r>
                <a:r>
                  <a:rPr lang="de-DE" dirty="0"/>
                  <a:t> </a:t>
                </a:r>
                <a:r>
                  <a:rPr lang="de-DE" dirty="0" err="1"/>
                  <a:t>interpolation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Visualize latent Space with PCA</a:t>
                </a:r>
              </a:p>
              <a:p>
                <a:pPr lvl="1"/>
                <a:r>
                  <a:rPr lang="en-GB" dirty="0"/>
                  <a:t>Is the latent space gaussian, is it continuous, what is the scale of the latent space; Latent diffusion needs scale one</a:t>
                </a:r>
              </a:p>
              <a:p>
                <a:r>
                  <a:rPr lang="en-GB" dirty="0"/>
                  <a:t>Try out more compression, i.e. experiment with different latent space dimensions</a:t>
                </a:r>
              </a:p>
              <a:p>
                <a:r>
                  <a:rPr lang="en-GB" dirty="0"/>
                  <a:t>Try out lower and higher KL-Annealing</a:t>
                </a:r>
              </a:p>
              <a:p>
                <a:r>
                  <a:rPr lang="en-GB" dirty="0"/>
                  <a:t>Perform Diffusion in the latent space of the pretrained VAE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252DA-9753-B50A-60B9-3662B67E7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64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Breitbild</PresentationFormat>
  <Paragraphs>129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</vt:lpstr>
      <vt:lpstr>VAE</vt:lpstr>
      <vt:lpstr>Problem Definition</vt:lpstr>
      <vt:lpstr>Diffusion-Autoencoder</vt:lpstr>
      <vt:lpstr>Autoencoder Predicted Point Clouds 256 Points end-to-end</vt:lpstr>
      <vt:lpstr>Autoencoder Predicted Point Clouds 2048 Points end-to-end</vt:lpstr>
      <vt:lpstr>Autoencoder with Pretraining</vt:lpstr>
      <vt:lpstr>VAE-Model Architecture Encoder</vt:lpstr>
      <vt:lpstr>VAE - Model Architecture Decoder</vt:lpstr>
      <vt:lpstr>Training with 1000 Epochs</vt:lpstr>
      <vt:lpstr>Training with 5000 Epochs</vt:lpstr>
      <vt:lpstr>Comparing predicted vs target PCs</vt:lpstr>
      <vt:lpstr>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Yankacar</dc:creator>
  <cp:lastModifiedBy>Christian Yankacar</cp:lastModifiedBy>
  <cp:revision>4</cp:revision>
  <dcterms:created xsi:type="dcterms:W3CDTF">2026-05-20T12:00:15Z</dcterms:created>
  <dcterms:modified xsi:type="dcterms:W3CDTF">2026-05-27T12:58:54Z</dcterms:modified>
</cp:coreProperties>
</file>